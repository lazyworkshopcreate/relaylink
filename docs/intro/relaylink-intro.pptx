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5" Type="http://schemas.openxmlformats.org/officeDocument/2006/relationships/slide" Target="slides/slide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'1280px', height: '720px', padding: 0, background: '#FFFFFF', flexDirection: 'row', position: 'relative' }}&gt;&#10;    &lt;Box style={{ position: 'absolute', top: 0, right: 0, width: 660, height: 720, background: 'linear-gradient(135deg,#EEF2F8 0%,#FFFFFF 100%)' }} /&gt;&#10;    &lt;Box style={{ position: 'absolute', left: 0, bottom: 0, width: 420, height: 6, background: '#2563EB' }} /&gt;&#10;&#10;    &lt;Box style={{ width: 680, height: '100%', padding: '0 40px 0 64px', justifyContent: 'center', zIndex: 1 }}&gt;&#10;        &lt;Text style={{ fontSize: 13, fontWeight: 600, color: '#2563EB', letterSpacing: 2 }}&gt;OPEN SOURCE · .NET 10 · TCP RELAY&lt;/Text&gt;&#10;        &lt;Box style={{ height: 24 }} /&gt;&#10;        &lt;Text style={{ fontSize: 76, fontWeight: 'bold', color: '#0F172A', lineHeight: 1.1 }}&gt;RelayLink&lt;/Text&gt;&#10;        &lt;Box style={{ height: 22 }} /&gt;&#10;        &lt;Text style={{ fontSize: 30, fontWeight: 'bold', color: '#0F172A', lineHeight: 1.35 }}&gt;让云端应用访问&lt;br /&gt;任意内网 TCP 服务&lt;/Text&gt;&#10;        &lt;Box style={{ height: 26 }} /&gt;&#10;        &lt;Box style={{ width: 72, height: 3, background: '#2563EB' }} /&gt;&#10;        &lt;Box style={{ height: 24 }} /&gt;&#10;        &lt;Text style={{ fontSize: 18, color: '#64748B', lineHeight: 1.6 }}&gt;&#10;            内网不开公网入站端口&lt;span style={{ color: '#0F172A', fontWeight: 'bold' }}&gt; —— 连接永远由 Agent 主动发起&lt;/span&gt;&#10;        &lt;/Text&gt;&#10;        &lt;Box style={{ height: 40 }} /&gt;&#10;        &lt;Text style={{ fontSize: 15, color: '#2563EB', letterSpacing: 0.5 }}&gt;github.com/LazyWorkshopCreate/RelayLink&lt;/Text&gt;&#10;    &lt;/Box&gt;&#10;&#10;    &lt;Box style={{ width: 600, height: '100%', alignItems: 'center', justifyContent: 'center', zIndex: 1 }}&gt;&#10;        &lt;svg width={540} height={520} viewBox='0 0 540 520'&gt;&#10;            &lt;circle cx='270' cy='260' r='196' fill='none' stroke='#DCE3ED' strokeWidth='1.5' strokeDasharray='4 8' /&gt;&#10;            &lt;circle cx='270' cy='260' r='128' fill='none' stroke='#DCE3ED' strokeWidth='1.5' strokeDasharray='4 8' /&gt;&#10;            &lt;path d='M78 92 L228 216' stroke='#2563EB' strokeWidth='1.6' /&gt;&#10;            &lt;path d='M470 108 L318 214' stroke='#2563EB' strokeWidth='1.6' /&gt;&#10;            &lt;path d='M62 268 L206 258' stroke='#2563EB' strokeWidth='1.6' /&gt;&#10;            &lt;path d='M488 272 L340 262' stroke='#2563EB' strokeWidth='1.6' /&gt;&#10;            &lt;path d='M108 452 L232 316' stroke='#2563EB' strokeWidth='1.6' /&gt;&#10;            &lt;path d='M446 438 L312 312' stroke='#2563EB' strokeWidth='1.6' /&gt;&#10;            &lt;path d='M246 234 L214 206 L262 200 Z' fill='#2563EB' /&gt;&#10;            &lt;path d='M300 232 L332 202 L332 250 Z' fill='#2563EB' /&gt;&#10;            &lt;path d='M206 258 L172 248 L172 274 Z' fill='#2563EB' /&gt;&#10;            &lt;path d='M340 262 L374 252 L374 278 Z' fill='#2563EB' /&gt;&#10;            &lt;path d='M240 300 L208 336 L246 348 Z' fill='#2563EB' /&gt;&#10;            &lt;path d='M304 300 L336 336 L298 348 Z' fill='#2563EB' /&gt;&#10;            &lt;circle cx='270' cy='260' r='62' fill='#0F172A' /&gt;&#10;            &lt;circle cx='270' cy='260' r='44' fill='none' stroke='#60A5FA' strokeWidth='1.5' /&gt;&#10;            &lt;rect x='244' y='238' width='52' height='10' rx='5' fill='#FFFFFF' /&gt;&#10;            &lt;rect x='244' y='256' width='36' height='10' rx='5' fill='#60A5FA' /&gt;&#10;            &lt;rect x='244' y='274' width='44' height='10' rx='5' fill='#FFFFFF' opacity='0.55' /&gt;&#10;            &lt;circle cx='78' cy='92' r='17' fill='#FFFFFF' stroke='#0F172A' strokeWidth='2' /&gt;&#10;            &lt;circle cx='470' cy='108' r='17' fill='#FFFFFF' stroke='#0F172A' strokeWidth='2' /&gt;&#10;            &lt;circle cx='62' cy='268' r='17' fill='#FFFFFF' stroke='#0F172A' strokeWidth='2' /&gt;&#10;            &lt;circle cx='488' cy='272' r='17' fill='#FFFFFF' stroke='#0F172A' strokeWidth='2' /&gt;&#10;            &lt;circle cx='108' cy='452' r='17' fill='#FFFFFF' stroke='#0F172A' strokeWidth='2' /&gt;&#10;            &lt;circle cx='446' cy='438' r='17' fill='#FFFFFF' stroke='#0F172A' strokeWidth='2' /&gt;&#10;            &lt;rect x='52' y='124' width='52' height='6' rx='3' fill='#DCE3ED' /&gt;&#10;            &lt;rect x='444' y='140' width='52' height='6' rx='3' fill='#DCE3ED' /&gt;&#10;            &lt;rect x='34' y='300' width='52' height='6' rx='3' fill='#DCE3ED' /&gt;&#10;            &lt;rect x='462' y='304' width='52' height='6' rx='3' fill='#DCE3ED' /&gt;&#10;            &lt;rect x='84' y='484' width='52' height='6' rx='3' fill='#DCE3ED' /&gt;&#10;            &lt;rect x='420' y='470' width='52' height='6' rx='3' fill='#DCE3ED' /&gt;&#10;        &lt;/svg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5905500" y="0"/>
            <a:ext cx="6286500" cy="6858000"/>
          </a:xfrm>
          <a:prstGeom prst="rect">
            <a:avLst/>
          </a:prstGeom>
          <a:gradFill>
            <a:gsLst>
              <a:gs pos="0">
                <a:srgbClr val="EEF2F8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0" y="6800850"/>
            <a:ext cx="40005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495425"/>
            <a:ext cx="548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OPEN SOURCE · .NET 10 · TCP RELAY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54864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700" b="1">
                <a:solidFill>
                  <a:srgbClr val="0F172A"/>
                </a:solidFill>
                <a:latin typeface="Microsoft YaHei"/>
                <a:ea typeface="Microsoft YaHei"/>
              </a:rPr>
              <a:t>RelayLink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048000"/>
            <a:ext cx="5486400" cy="933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让云端应用访问</a:t>
            </a:r>
            <a:endParaRPr/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任意内网</a:t>
            </a: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 TCP </a:t>
            </a: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229100"/>
            <a:ext cx="6858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486275"/>
            <a:ext cx="54864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内网不开公网入站端口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——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连接永远由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Agent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主动发起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520065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2563EB"/>
                </a:solidFill>
                <a:latin typeface="Microsoft YaHei"/>
                <a:ea typeface="Microsoft YaHei"/>
              </a:rPr>
              <a:t>github.com/LazyWorkshopCreate/RelayLink</a:t>
            </a:r>
            <a:endParaRPr/>
          </a:p>
        </p:txBody>
      </p:sp>
      <p:pic>
        <p:nvPicPr>
          <p:cNvPr id="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762750" y="952500"/>
            <a:ext cx="5143500" cy="4953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47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ONTENTS&lt;/Text&gt;&#10;            &lt;Box style={{ height: 8 }} /&gt;&#10;            &lt;Text style={{ fontSize: 34, fontWeight: 'bold', color: '#0F172A', lineHeight: 1.25 }}&gt;四步看清这套系统&lt;/Text&gt;&#10;        &lt;/Box&gt;&#10;        &lt;Box style={{ width: 4, height: 44, background: '#2563EB' }} /&gt;&#10;    &lt;/Box&gt;&#10;&#10;    &lt;Box style={{ height: 524, marginTop: 16, flexDirection: 'row', gap: 32 }}&gt;&#10;        &lt;Box style={{ width: 296, background: '#0F172A', borderRadius: 10, padding: '28px 26px', justifyContent: 'space-between' }}&gt;&#10;            &lt;Box&gt;&#10;                &lt;Text style={{ fontSize: 64, fontWeight: 'bold', color: '#FFFFFF', lineHeight: 1 }}&gt;01–04&lt;/Text&gt;&#10;                &lt;Box style={{ height: 14 }} /&gt;&#10;                &lt;Text style={{ fontSize: 19, fontWeight: 600, color: '#60A5FA' }}&gt;目录&lt;/Text&gt;&#10;            &lt;/Box&gt;&#10;            &lt;Box&gt;&#10;                &lt;Box style={{ width: 44, height: 3, background: '#2563EB' }} /&gt;&#10;                &lt;Box style={{ height: 16 }} /&gt;&#10;                &lt;Text style={{ fontSize: 15, color: '#CBD5E1', lineHeight: 1.6 }}&gt;&#10;                    从&quot;为什么难&quot;出发，到&quot;它不做什么&quot;收尾。每一章都回答一个具体问题。&#10;                &lt;/Text&gt;&#10;            &lt;/Box&gt;&#10;        &lt;/Box&gt;&#10;&#10;        &lt;Box style={{ flex: 1, justifyContent: 'space-between' }}&gt;&#10;            &lt;Box style={{ height: 118, flexDirection: 'row', alignItems: 'center', borderBottom: '1px solid #DCE3ED' }}&gt;&#10;                &lt;Text style={{ fontSize: 40, fontWeight: 'bold', color: '#2563EB', width: 78 }}&gt;01&lt;/Text&gt;&#10;                &lt;Box style={{ flex: 1, paddingRight: 20 }}&gt;&#10;                    &lt;Text style={{ fontSize: 22, fontWeight: 600, color: '#0F172A' }}&gt;问题：数据中台回潮，数据却出不来&lt;/Text&gt;&#10;                    &lt;Box style={{ height: 8 }} /&gt;&#10;                    &lt;Text style={{ fontSize: 15, color: '#64748B', lineHeight: 1.5 }}&gt;三个硬约束摆在那儿，能动的其实只有&quot;由谁发起连接&quot;这一件事。&lt;/Text&gt;&#10;                &lt;/Box&gt;&#10;                &lt;Text style={{ fontSize: 14, color: '#64748B', width: 74, textAlign: 'right' }}&gt;页 03–07&lt;/Text&gt;&#10;            &lt;/Box&gt;&#10;&#10;            &lt;Box style={{ height: 118, flexDirection: 'row', alignItems: 'center', borderBottom: '1px solid #DCE3ED' }}&gt;&#10;                &lt;Text style={{ fontSize: 40, fontWeight: 'bold', color: '#2563EB', width: 78 }}&gt;02&lt;/Text&gt;&#10;                &lt;Box style={{ flex: 1, paddingRight: 20 }}&gt;&#10;                    &lt;Text style={{ fontSize: 22, fontWeight: 600, color: '#0F172A' }}&gt;架构与协议：控制和数据为什么要分家&lt;/Text&gt;&#10;                    &lt;Box style={{ height: 8 }} /&gt;&#10;                    &lt;Text style={{ fontSize: 15, color: '#64748B', lineHeight: 1.5 }}&gt;双端口、一次性绑定令牌，以及一条业务连接从 accept 到转发字节的九步。&lt;/Text&gt;&#10;                &lt;/Box&gt;&#10;                &lt;Text style={{ fontSize: 14, color: '#64748B', width: 74, textAlign: 'right' }}&gt;页 08–12&lt;/Text&gt;&#10;            &lt;/Box&gt;&#10;&#10;            &lt;Box style={{ height: 118, flexDirection: 'row', alignItems: 'center', borderBottom: '1px solid #DCE3ED' }}&gt;&#10;                &lt;Text style={{ fontSize: 40, fontWeight: 'bold', color: '#2563EB', width: 78 }}&gt;03&lt;/Text&gt;&#10;                &lt;Box style={{ flex: 1, paddingRight: 20 }}&gt;&#10;                    &lt;Text style={{ fontSize: 22, fontWeight: 600, color: '#0F172A' }}&gt;安全模型：谁被允许连，服务端能看到什么&lt;/Text&gt;&#10;                    &lt;Box style={{ height: 8 }} /&gt;&#10;                    &lt;Text style={{ fontSize: 15, color: '#64748B', lineHeight: 1.5 }}&gt;三层凭据各管一段，两台内网机器互访时服务端只中继密文。&lt;/Text&gt;&#10;                &lt;/Box&gt;&#10;                &lt;Text style={{ fontSize: 14, color: '#64748B', width: 74, textAlign: 'right' }}&gt;页 13–16&lt;/Text&gt;&#10;            &lt;/Box&gt;&#10;&#10;            &lt;Box style={{ height: 118, flexDirection: 'row', alignItems: 'center' }}&gt;&#10;                &lt;Text style={{ fontSize: 40, fontWeight: 'bold', color: '#2563EB', width: 78 }}&gt;04&lt;/Text&gt;&#10;                &lt;Box style={{ flex: 1, paddingRight: 20 }}&gt;&#10;                    &lt;Text style={{ fontSize: 22, fontWeight: 600, color: '#0F172A' }}&gt;运维与边界：看得见、装得上，以及它不做什么&lt;/Text&gt;&#10;                    &lt;Box style={{ height: 8 }} /&gt;&#10;                    &lt;Text style={{ fontSize: 15, color: '#64748B', lineHeight: 1.5 }}&gt;匿名只读页面、分钟级流量、三种交付物，以及一份不粉饰的能力边界。&lt;/Text&gt;&#10;                &lt;/Box&gt;&#10;                &lt;Text style={{ fontSize: 14, color: '#64748B', width: 74, textAlign: 'right' }}&gt;页 17–21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02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259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25908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四步看清这套系统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609600" y="1181100"/>
            <a:ext cx="2819400" cy="4991100"/>
          </a:xfrm>
          <a:prstGeom prst="roundRect">
            <a:avLst>
              <a:gd name="adj" fmla="val 3378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57250" y="1447800"/>
            <a:ext cx="2324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01–04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57250" y="2314575"/>
            <a:ext cx="232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0A5FA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857250" y="4895850"/>
            <a:ext cx="4191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57250" y="5076825"/>
            <a:ext cx="23241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为什么难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出发，到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它不做什么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收尾。每一章都回答一个具体问题。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3733800" y="1181100"/>
            <a:ext cx="7848600" cy="1123950"/>
          </a:xfrm>
          <a:custGeom>
            <a:pathLst>
              <a:path w="824" h="118">
                <a:moveTo>
                  <a:pt x="0" y="117"/>
                </a:moveTo>
                <a:lnTo>
                  <a:pt x="824" y="117"/>
                </a:lnTo>
                <a:lnTo>
                  <a:pt x="824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733800" y="151447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476750" y="1447800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问题：数据中台回潮，数据却出不来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476750" y="1781175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三个硬约束摆在那儿，能动的其实只有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由谁发起连接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这一件事。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0877550" y="1657350"/>
            <a:ext cx="7048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页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03–07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3733800" y="2466975"/>
            <a:ext cx="7848600" cy="1123950"/>
          </a:xfrm>
          <a:custGeom>
            <a:pathLst>
              <a:path w="824" h="118">
                <a:moveTo>
                  <a:pt x="0" y="117"/>
                </a:moveTo>
                <a:lnTo>
                  <a:pt x="824" y="117"/>
                </a:lnTo>
                <a:lnTo>
                  <a:pt x="824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3733800" y="280035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476750" y="2733675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架构与协议：控制和数据为什么要分家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476750" y="3067050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双端口、一次性绑定令牌，以及一条业务连接从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accept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到转发字节的九步。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0877550" y="2943225"/>
            <a:ext cx="7048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页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08–12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733800" y="3762375"/>
            <a:ext cx="7848600" cy="1123950"/>
          </a:xfrm>
          <a:custGeom>
            <a:pathLst>
              <a:path w="824" h="118">
                <a:moveTo>
                  <a:pt x="0" y="117"/>
                </a:moveTo>
                <a:lnTo>
                  <a:pt x="824" y="117"/>
                </a:lnTo>
                <a:lnTo>
                  <a:pt x="824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733800" y="409575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476750" y="4029075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安全模型：谁被允许连，服务端能看到什么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476750" y="4362450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三层凭据各管一段，两台内网机器互访时服务端只中继密文。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877550" y="4238625"/>
            <a:ext cx="7048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页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13–16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733800" y="53816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476750" y="5314950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运维与边界：看得见、装得上，以及它不做什么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476750" y="5648325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匿名只读页面、分钟级流量、三种交付物，以及一份不粉饰的能力边界。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0877550" y="5534025"/>
            <a:ext cx="7048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页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17–21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22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63" name="" descr="&lt;Slide style={{ width: '1280px', height: '720px', padding: 0, background: '#FFFFFF', flexDirection: 'row', position: 'relative' }}&gt;&#10;    &lt;Box style={{ position: 'absolute', top: 0, right: 0, width: 620, height: 720, background: 'linear-gradient(135deg,#EEF2F8 0%,#FFFFFF 100%)' }} /&gt;&#10;&#10;    &lt;Box style={{ width: 700, height: '100%', padding: '0 40px 0 64px', justifyContent: 'center', zIndex: 1 }}&gt;&#10;        &lt;Text style={{ fontSize: 88, fontWeight: 'bold', color: '#2563EB', lineHeight: 1 }}&gt;01&lt;/Text&gt;&#10;        &lt;Box style={{ height: 18 }} /&gt;&#10;        &lt;Text style={{ fontSize: 54, fontWeight: 'bold', color: '#0F172A', lineHeight: 1.15 }}&gt;问题&lt;br /&gt;数据出不来&lt;br /&gt;中台就是空的&lt;/Text&gt;&#10;        &lt;Box style={{ height: 22 }} /&gt;&#10;        &lt;Box style={{ width: 72, height: 3, background: '#2563EB' }} /&gt;&#10;        &lt;Box style={{ height: 20 }} /&gt;&#10;        &lt;Text style={{ fontSize: 19, color: '#64748B', lineHeight: 1.55 }}&gt;AI 时代，数据中台又一次成了刚需。但零售企业要过的第一道坎，不是建模也不是算力，是分散在全国几百个门店里的数据根本出不来。&lt;/Text&gt;&#10;    &lt;/Box&gt;&#10;&#10;    &lt;Box style={{ width: 580, height: '100%', alignItems: 'center', justifyContent: 'center', zIndex: 1 }}&gt;&#10;        &lt;svg width={520} height={430} viewBox='0 0 520 430'&gt;&#10;            &lt;rect x='16' y='34' width='150' height='82' rx='9' fill='#FFFFFF' stroke='#0F172A' strokeWidth='1.8' /&gt;&#10;            &lt;rect x='36' y='56' width='62' height='8' rx='4' fill='#0F172A' /&gt;&#10;            &lt;rect x='36' y='74' width='94' height='6' rx='3' fill='#DCE3ED' /&gt;&#10;            &lt;rect x='36' y='88' width='78' height='6' rx='3' fill='#DCE3ED' /&gt;&#10;&#10;            &lt;rect x='16' y='174' width='150' height='82' rx='9' fill='#FFFFFF' stroke='#0F172A' strokeWidth='1.8' /&gt;&#10;            &lt;rect x='36' y='196' width='62' height='8' rx='4' fill='#0F172A' /&gt;&#10;            &lt;rect x='36' y='214' width='94' height='6' rx='3' fill='#DCE3ED' /&gt;&#10;            &lt;rect x='36' y='228' width='78' height='6' rx='3' fill='#DCE3ED' /&gt;&#10;&#10;            &lt;rect x='16' y='314' width='150' height='82' rx='9' fill='#FFFFFF' stroke='#0F172A' strokeWidth='1.8' /&gt;&#10;            &lt;rect x='36' y='336' width='62' height='8' rx='4' fill='#0F172A' /&gt;&#10;            &lt;rect x='36' y='354' width='94' height='6' rx='3' fill='#DCE3ED' /&gt;&#10;            &lt;rect x='36' y='368' width='78' height='6' rx='3' fill='#DCE3ED' /&gt;&#10;&#10;            &lt;path d='M174 70 L352 176' stroke='#2563EB' strokeWidth='2.2' /&gt;&#10;            &lt;path d='M174 210 L352 206' stroke='#2563EB' strokeWidth='2.2' /&gt;&#10;            &lt;path d='M174 350 L352 236' stroke='#2563EB' strokeWidth='2.2' /&gt;&#10;            &lt;path d='M358 178 L340 166 L346 196 Z' fill='#2563EB' /&gt;&#10;            &lt;path d='M358 208 L340 196 L340 216 Z' fill='#2563EB' /&gt;&#10;            &lt;path d='M358 234 L340 224 L346 254 Z' fill='#2563EB' /&gt;&#10;&#10;            &lt;path d='M366 268 L186 366' stroke='#CBD5E1' strokeWidth='2' strokeDasharray='7 7' /&gt;&#10;            &lt;path d='M266 306 L286 326' stroke='#94A3B8' strokeWidth='2.4' /&gt;&#10;            &lt;path d='M286 306 L266 326' stroke='#94A3B8' strokeWidth='2.4' /&gt;&#10;&#10;            &lt;rect x='358' y='150' width='140' height='116' rx='12' fill='#0F172A' /&gt;&#10;            &lt;rect x='380' y='174' width='96' height='10' rx='5' fill='#FFFFFF' /&gt;&#10;            &lt;rect x='380' y='194' width='68' height='10' rx='5' fill='#60A5FA' /&gt;&#10;            &lt;rect x='380' y='214' width='84' height='10' rx='5' fill='#FFFFFF' opacity='0.5' /&gt;&#10;            &lt;rect x='380' y='234' width='52' height='10' rx='5' fill='#FFFFFF' opacity='0.3' /&gt;&#10;        &lt;/svg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EEF2F8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56769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5676900" cy="2133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问题</a:t>
            </a:r>
            <a:endParaRPr/>
          </a:p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数据出不来</a:t>
            </a:r>
            <a:endParaRPr/>
          </a:p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中台就是空的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09600" y="4743450"/>
            <a:ext cx="6858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09600" y="4962525"/>
            <a:ext cx="56769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时代，数据中台又一次成了刚需。但零售企业要过的第一道坎，不是建模也不是算力，是分散在全国几百个门店里的数据根本出不来。</a:t>
            </a:r>
            <a:endParaRPr/>
          </a:p>
        </p:txBody>
      </p:sp>
      <p:pic>
        <p:nvPicPr>
          <p:cNvPr id="5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0" y="1381125"/>
            <a:ext cx="4953000" cy="409575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71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1 · 为什么是现在&lt;/Text&gt;&#10;            &lt;Box style={{ height: 8 }} /&gt;&#10;            &lt;Text style={{ fontSize: 34, fontWeight: 'bold', color: '#0F172A', lineHeight: 1.25 }}&gt;中台又成了刚需，第一道坎却是连通性&lt;/Text&gt;&#10;        &lt;/Box&gt;&#10;        &lt;Box style={{ width: 4, height: 44, background: '#2563EB' }} /&gt;&#10;    &lt;/Box&gt;&#10;&#10;    &lt;Box style={{ height: 524, marginTop: 16 }}&gt;&#10;        &lt;Box style={{ height: 312, flexDirection: 'row', gap: 12, alignItems: 'stretch' }}&gt;&#10;            &lt;Box style={{ flex: 1, background: '#EEF2F8', borderRadius: 10, padding: '24px 22px', justifyContent: 'space-between' }}&gt;&#10;                &lt;Box&gt;&#10;                    &lt;Text style={{ fontSize: 13, fontWeight: 600, color: '#2563EB', letterSpacing: 1 }}&gt;AI 时代&lt;/Text&gt;&#10;                    &lt;Box style={{ height: 12 }} /&gt;&#10;                    &lt;Text style={{ fontSize: 21, fontWeight: 600, color: '#0F172A', lineHeight: 1.35 }}&gt;数据中台又一次成了刚需&lt;/Text&gt;&#10;                &lt;/Box&gt;&#10;                &lt;Text style={{ fontSize: 14.5, color: '#64748B', lineHeight: 1.65 }}&gt;数据重新变成生产资料。没来得及建的要补，刚被拆掉的要重建——但这一次的窗口更短，容不得再从零规划三年。&lt;/Text&gt;&#10;            &lt;/Box&gt;&#10;&#10;            &lt;Box style={{ width: 26, alignItems: 'center', justifyContent: 'center' }}&gt;&#10;                &lt;Text style={{ fontSize: 26, color: '#2563EB' }}&gt;→&lt;/Text&gt;&#10;            &lt;/Box&gt;&#10;&#10;            &lt;Box style={{ flex: 1, background: '#EEF2F8', borderRadius: 10, padding: '24px 22px', justifyContent: 'space-between' }}&gt;&#10;                &lt;Box&gt;&#10;                    &lt;Text style={{ fontSize: 13, fontWeight: 600, color: '#2563EB', letterSpacing: 1 }}&gt;零售与中小企业的现实&lt;/Text&gt;&#10;                    &lt;Box style={{ height: 12 }} /&gt;&#10;                    &lt;Text style={{ fontSize: 21, fontWeight: 600, color: '#0F172A', lineHeight: 1.35 }}&gt;数据在几百个门店的内网里&lt;/Text&gt;&#10;                &lt;/Box&gt;&#10;                &lt;Text style={{ fontSize: 14.5, color: '#64748B', lineHeight: 1.65 }}&gt;每家门店一套 POS 或进销存，库在 192.168 段，出口躲在运营商 NAT 后面。总部手上真正有的，往往只有各店报上来的 Excel。&lt;/Text&gt;&#10;            &lt;/Box&gt;&#10;&#10;            &lt;Box style={{ width: 26, alignItems: 'center', justifyContent: 'center' }}&gt;&#10;                &lt;Text style={{ fontSize: 26, color: '#2563EB' }}&gt;→&lt;/Text&gt;&#10;            &lt;/Box&gt;&#10;&#10;            &lt;Box style={{ flex: 1, background: '#FFFFFF', border: '1.5px solid #2563EB', borderRadius: 10, padding: '24px 22px', justifyContent: 'space-between' }}&gt;&#10;                &lt;Box&gt;&#10;                    &lt;Text style={{ fontSize: 13, fontWeight: 600, color: '#2563EB', letterSpacing: 1 }}&gt;第一道坎&lt;/Text&gt;&#10;                    &lt;Box style={{ height: 12 }} /&gt;&#10;                    &lt;Text style={{ fontSize: 21, fontWeight: 600, color: '#0F172A', lineHeight: 1.35 }}&gt;不是建模，是数据出不来&lt;/Text&gt;&#10;                &lt;/Box&gt;&#10;                &lt;Text style={{ fontSize: 14.5, color: '#64748B', lineHeight: 1.65 }}&gt;指标口径、特征工程、模型训练全排在后面。只要数据还留在各个门店的内网里，中台建得多漂亮都是空的。&lt;/Text&gt;&#10;            &lt;/Box&gt;&#10;        &lt;/Box&gt;&#10;&#10;        &lt;Box style={{ height: 200, marginTop: 12, background: '#0F172A', borderRadius: 10, padding: '22px 28px', justifyContent: 'space-between' }}&gt;&#10;            &lt;Box&gt;&#10;                &lt;Text style={{ fontSize: 13, fontWeight: 600, color: '#60A5FA', letterSpacing: 2 }}&gt;RELAYLINK 的位置&lt;/Text&gt;&#10;                &lt;Box style={{ height: 12 }} /&gt;&#10;                &lt;Text style={{ fontSize: 28, fontWeight: 'bold', color: '#FFFFFF', lineHeight: 1.3 }}&gt;它不做中台，它是中台前面那根管子&lt;/Text&gt;&#10;            &lt;/Box&gt;&#10;            &lt;Box&gt;&#10;                &lt;Text style={{ fontSize: 15, color: '#CBD5E1', lineHeight: 1.65 }}&gt;只解决一件事：把分散在全国的内网数据出口打通，让「汇聚」先成立。汇聚之后怎么建模、怎么做特征、怎么训练，交给你的中台和模型。&lt;/Text&gt;&#10;                &lt;Box style={{ height: 10 }} /&gt;&#10;                &lt;Text style={{ fontSize: 12.5, color: '#64748B', lineHeight: 1.55 }}&gt;也正因为它只做连通，才不碰应用层协议、不做网站托管。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04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5505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01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为什么是现在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55054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中台又成了刚需，第一道坎却是连通性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609600" y="1181100"/>
            <a:ext cx="3343275" cy="2971800"/>
          </a:xfrm>
          <a:prstGeom prst="roundRect">
            <a:avLst>
              <a:gd name="adj" fmla="val 3205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19150" y="14097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2563EB"/>
                </a:solidFill>
                <a:latin typeface="Microsoft YaHei"/>
                <a:ea typeface="Microsoft YaHei"/>
              </a:rPr>
              <a:t>AI </a:t>
            </a:r>
            <a:r>
              <a:rPr lang="zh-CN" sz="975" b="1" spc="75">
                <a:solidFill>
                  <a:srgbClr val="2563EB"/>
                </a:solidFill>
                <a:latin typeface="Microsoft YaHei"/>
                <a:ea typeface="Microsoft YaHei"/>
              </a:rPr>
              <a:t>时代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19150" y="1676400"/>
            <a:ext cx="2924175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数据中台又一次成了刚需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19150" y="3095625"/>
            <a:ext cx="292417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数据重新变成生产资料。没来得及建的要补，刚被拆掉的要重建——但这一次的窗口更短，容不得再从零规划三年。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4067175" y="251460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4429125" y="1181100"/>
            <a:ext cx="3333750" cy="2971800"/>
          </a:xfrm>
          <a:prstGeom prst="roundRect">
            <a:avLst>
              <a:gd name="adj" fmla="val 3205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4638675" y="140970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2563EB"/>
                </a:solidFill>
                <a:latin typeface="Microsoft YaHei"/>
                <a:ea typeface="Microsoft YaHei"/>
              </a:rPr>
              <a:t>零售与中小企业的现实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638675" y="1676400"/>
            <a:ext cx="291465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数据在几百个门店的内网里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638675" y="3095625"/>
            <a:ext cx="29146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每家门店一套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POS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或进销存，库在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192.168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段，出口躲在运营商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NAT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后面。总部手上真正有的，往往只有各店报上来的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Excel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877175" y="251460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8239125" y="1181100"/>
            <a:ext cx="3343275" cy="297180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448675" y="14097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2563EB"/>
                </a:solidFill>
                <a:latin typeface="Microsoft YaHei"/>
                <a:ea typeface="Microsoft YaHei"/>
              </a:rPr>
              <a:t>第一道坎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8448675" y="1676400"/>
            <a:ext cx="2924175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不是建模，是数据出不来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448675" y="3095625"/>
            <a:ext cx="292417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指标口径、特征工程、模型训练全排在后面。只要数据还留在各个门店的内网里，中台建得多漂亮都是空的。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4267200"/>
            <a:ext cx="10972800" cy="1905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76300" y="4476750"/>
            <a:ext cx="1043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60A5FA"/>
                </a:solidFill>
                <a:latin typeface="Microsoft YaHei"/>
                <a:ea typeface="Microsoft YaHei"/>
              </a:rPr>
              <a:t>RELAYLINK </a:t>
            </a:r>
            <a:r>
              <a:rPr lang="zh-CN" sz="975" b="1" spc="150">
                <a:solidFill>
                  <a:srgbClr val="60A5FA"/>
                </a:solidFill>
                <a:latin typeface="Microsoft YaHei"/>
                <a:ea typeface="Microsoft YaHei"/>
              </a:rPr>
              <a:t>的位置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76300" y="4743450"/>
            <a:ext cx="10439400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它不做中台，它是中台前面那根管子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76300" y="5353050"/>
            <a:ext cx="104394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只解决一件事：把分散在全国的内网数据出口打通，让「汇聚」先成立。汇聚之后怎么建模、怎么做特征、怎么训练，交给你的中台和模型。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76300" y="5734050"/>
            <a:ext cx="104394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也正因为它只做连通，才不碰应用层协议、不做网站托管。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22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98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1 · 问题&lt;/Text&gt;&#10;            &lt;Box style={{ height: 8 }} /&gt;&#10;            &lt;Text style={{ fontSize: 34, fontWeight: 'bold', color: '#0F172A', lineHeight: 1.25 }}&gt;三个硬约束，锁死了几乎所有常规方案&lt;/Text&gt;&#10;        &lt;/Box&gt;&#10;        &lt;Box style={{ width: 4, height: 44, background: '#2563EB' }} /&gt;&#10;    &lt;/Box&gt;&#10;&#10;    &lt;Box style={{ height: 524, marginTop: 16, flexDirection: 'row', gap: 28 }}&gt;&#10;        &lt;Box style={{ width: 704, justifyContent: 'space-between' }}&gt;&#10;            &lt;Box style={{ height: 164, background: '#EEF2F8', borderRadius: 10, padding: '22px 26px', flexDirection: 'row', gap: 20 }}&gt;&#10;                &lt;Text style={{ fontSize: 40, fontWeight: 'bold', color: '#2563EB', width: 56 }}&gt;1&lt;/Text&gt;&#10;                &lt;Box style={{ flex: 1 }}&gt;&#10;                    &lt;Text style={{ fontSize: 22, fontWeight: 600, color: '#0F172A' }}&gt;内网侧没有可拨号的公网地址&lt;/Text&gt;&#10;                    &lt;Box style={{ height: 10 }} /&gt;&#10;                    &lt;Text style={{ fontSize: 16, color: '#64748B', lineHeight: 1.6 }}&gt;分支机构和门店的出口大多在运营商 NAT 之后，云端拿不到一个能反向拨号的稳定地址，专线与 SD-WAN 的成本又远超项目预算。&lt;/Text&gt;&#10;                &lt;/Box&gt;&#10;            &lt;/Box&gt;&#10;&#10;            &lt;Box style={{ height: 164, background: '#EEF2F8', borderRadius: 10, padding: '22px 26px', flexDirection: 'row', gap: 20 }}&gt;&#10;                &lt;Text style={{ fontSize: 40, fontWeight: 'bold', color: '#2563EB', width: 56 }}&gt;2&lt;/Text&gt;&#10;                &lt;Box style={{ flex: 1 }}&gt;&#10;                    &lt;Text style={{ fontSize: 22, fontWeight: 600, color: '#0F172A' }}&gt;不允许为内网开放公网入站端口&lt;/Text&gt;&#10;                    &lt;Box style={{ height: 10 }} /&gt;&#10;                    &lt;Text style={{ fontSize: 16, color: '#64748B', lineHeight: 1.6 }}&gt;把 1433 或 3389 暴露到公网等于把数据库和桌面直接交出去，安全评审这一关基本不可能过，也不应该过。&lt;/Text&gt;&#10;                &lt;/Box&gt;&#10;            &lt;/Box&gt;&#10;&#10;            &lt;Box style={{ height: 164, background: '#EEF2F8', borderRadius: 10, padding: '22px 26px', flexDirection: 'row', gap: 20 }}&gt;&#10;                &lt;Text style={{ fontSize: 40, fontWeight: 'bold', color: '#2563EB', width: 56 }}&gt;3&lt;/Text&gt;&#10;                &lt;Box style={{ flex: 1 }}&gt;&#10;                    &lt;Text style={{ fontSize: 22, fontWeight: 600, color: '#0F172A' }}&gt;业务系统这一侧几乎不能改动&lt;/Text&gt;&#10;                    &lt;Box style={{ height: 10 }} /&gt;&#10;                    &lt;Text style={{ fontSize: 16, color: '#64748B', lineHeight: 1.6 }}&gt;ERP、MES 的连接串和驱动版本多年未变，让它改成走消息队列或者 HTTP 网关，改造量和风险都比接一条 TCP 隧道大得多。&lt;/Text&gt;&#10;                &lt;/Box&gt;&#10;            &lt;/Box&gt;&#10;        &lt;/Box&gt;&#10;&#10;        &lt;Box style={{ width: 420, background: '#0F172A', borderRadius: 10, padding: '30px 28px', justifyContent: 'space-between' }}&gt;&#10;            &lt;Box&gt;&#10;                &lt;Text style={{ fontSize: 13, fontWeight: 600, color: '#60A5FA', letterSpacing: 2 }}&gt;结论&lt;/Text&gt;&#10;                &lt;Box style={{ height: 16 }} /&gt;&#10;                &lt;Text style={{ fontSize: 30, fontWeight: 'bold', color: '#FFFFFF', lineHeight: 1.3 }}&gt;能动的，只有&lt;br /&gt;&quot;由谁发起连接&quot;&lt;br /&gt;这一件事&lt;/Text&gt;&#10;            &lt;/Box&gt;&#10;            &lt;Box&gt;&#10;                &lt;Box style={{ width: 52, height: 3, background: '#2563EB' }} /&gt;&#10;                &lt;Box style={{ height: 18 }} /&gt;&#10;                &lt;Text style={{ fontSize: 16, color: '#CBD5E1', lineHeight: 1.65 }}&gt;反向连接本身不是新东西。真正的工程量在于：把配置下发、身份校验、可观测性和生命周期管理一并做进去，让它不再是运维手里的一个脚本。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05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5505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01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55054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三个硬约束，锁死了几乎所有常规方案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609600" y="1181100"/>
            <a:ext cx="6705600" cy="1562100"/>
          </a:xfrm>
          <a:prstGeom prst="roundRect">
            <a:avLst>
              <a:gd name="adj" fmla="val 6098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5334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1581150" y="139065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内网侧没有可拨号的公网地址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581150" y="1743075"/>
            <a:ext cx="5486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分支机构和门店的出口大多在运营商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NAT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之后，云端拿不到一个能反向拨号的稳定地址，专线与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SD-WAN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的成本又远超项目预算。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09600" y="2895600"/>
            <a:ext cx="6705600" cy="1562100"/>
          </a:xfrm>
          <a:prstGeom prst="roundRect">
            <a:avLst>
              <a:gd name="adj" fmla="val 6098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57250" y="3105150"/>
            <a:ext cx="5334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581150" y="310515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不允许为内网开放公网入站端口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581150" y="3457575"/>
            <a:ext cx="5486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1433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或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3389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暴露到公网等于把数据库和桌面直接交出去，安全评审这一关基本不可能过，也不应该过。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09600" y="4610100"/>
            <a:ext cx="6705600" cy="1562100"/>
          </a:xfrm>
          <a:prstGeom prst="roundRect">
            <a:avLst>
              <a:gd name="adj" fmla="val 6098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57250" y="4819650"/>
            <a:ext cx="5334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581150" y="481965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业务系统这一侧几乎不能改动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581150" y="5172075"/>
            <a:ext cx="5486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ERP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MES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的连接串和驱动版本多年未变，让它改成走消息队列或者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HTTP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网关，改造量和风险都比接一条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隧道大得多。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7581900" y="1181100"/>
            <a:ext cx="4000500" cy="499110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848600" y="14668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60A5FA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848600" y="1771650"/>
            <a:ext cx="3467100" cy="1343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能动的，只有</a:t>
            </a:r>
            <a:endParaRPr/>
          </a:p>
          <a:p>
            <a:pPr>
              <a:lnSpc>
                <a:spcPct val="13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由谁发起连接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这一件事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7848600" y="4772025"/>
            <a:ext cx="4953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7848600" y="4972050"/>
            <a:ext cx="34671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反向连接本身不是新东西。真正的工程量在于：把配置下发、身份校验、可观测性和生命周期管理一并做进去，让它不再是运维手里的一个脚本。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/ 22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23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1 · 现有方案&lt;/Text&gt;&#10;            &lt;Box style={{ height: 8 }} /&gt;&#10;            &lt;Text style={{ fontSize: 34, fontWeight: 'bold', color: '#0F172A', lineHeight: 1.25 }}&gt;能连上是一回事，管得住是另一回事&lt;/Text&gt;&#10;        &lt;/Box&gt;&#10;        &lt;Box style={{ width: 4, height: 44, background: '#2563EB' }} /&gt;&#10;    &lt;/Box&gt;&#10;&#10;    &lt;Box style={{ height: 524, marginTop: 16, flexDirection: 'row', gap: 28 }}&gt;&#10;        &lt;Box style={{ width: 300, background: '#0F172A', borderRadius: 10, padding: '28px 26px', justifyContent: 'space-between' }}&gt;&#10;            &lt;Box&gt;&#10;                &lt;Text style={{ fontSize: 13, fontWeight: 600, color: '#60A5FA', letterSpacing: 2 }}&gt;判断&lt;/Text&gt;&#10;                &lt;Box style={{ height: 16 }} /&gt;&#10;                &lt;Text style={{ fontSize: 30, fontWeight: 'bold', color: '#FFFFFF', lineHeight: 1.3 }}&gt;缺口不在&lt;br /&gt;&quot;能不能连上&quot;&lt;br /&gt;在&quot;谁管&quot;&lt;/Text&gt;&#10;            &lt;/Box&gt;&#10;            &lt;Box&gt;&#10;                &lt;Box style={{ width: 52, height: 3, background: '#2563EB' }} /&gt;&#10;                &lt;Box style={{ height: 18 }} /&gt;&#10;                &lt;Text style={{ fontSize: 15, color: '#CBD5E1', lineHeight: 1.65 }}&gt;RelayLink 把鉴权、配置下发、可观测、撤销做进服务端，而不是留给使用者自己拼。&lt;/Text&gt;&#10;                &lt;Box style={{ height: 12 }} /&gt;&#10;                &lt;Text style={{ fontSize: 15, color: '#FFFFFF', fontWeight: '600', lineHeight: 1.65 }}&gt;对小型机构和个人，价格与上手难度本身就是硬约束——不是&quot;多花点时间就能学会&quot;。&lt;/Text&gt;&#10;            &lt;/Box&gt;&#10;        &lt;/Box&gt;&#10;&#10;        &lt;Box style={{ flex: 1 }}&gt;&#10;            &lt;Box style={{ height: 40, flexDirection: 'row', gap: 16, alignItems: 'center', borderBottom: '2px solid #0F172A' }}&gt;&#10;                &lt;Text style={{ fontSize: 12.5, fontWeight: 600, color: '#64748B', width: 190, letterSpacing: 1 }}&gt;方案&lt;/Text&gt;&#10;                &lt;Text style={{ fontSize: 12.5, fontWeight: 600, color: '#64748B', width: 200, letterSpacing: 1 }}&gt;能做&lt;/Text&gt;&#10;                &lt;Text style={{ fontSize: 12.5, fontWeight: 600, color: '#64748B', flex: 1, letterSpacing: 1 }}&gt;卡在哪&lt;/Text&gt;&#10;            &lt;/Box&gt;&#10;&#10;            &lt;Box style={{ height: 106, flexDirection: 'row', gap: 16, padding: '14px 0', borderBottom: '1px solid #DCE3ED' }}&gt;&#10;                &lt;Text style={{ fontSize: 16.5, fontWeight: 600, color: '#0F172A', width: 190, lineHeight: 1.45 }}&gt;VPN / SD-WAN&lt;/Text&gt;&#10;                &lt;Text style={{ fontSize: 13.5, color: '#64748B', width: 200, lineHeight: 1.6 }}&gt;把两地网络拉平，什么协议都能跑。&lt;/Text&gt;&#10;                &lt;Text style={{ fontSize: 14, color: '#0F172A', flex: 1, lineHeight: 1.6 }}&gt;要么在门店侧开入站，要么上专线和硬件；几百个点位的设备、证书、账号生命周期本身就是一份全职工作。&lt;/Text&gt;&#10;            &lt;/Box&gt;&#10;&#10;            &lt;Box style={{ height: 106, flexDirection: 'row', gap: 16, padding: '14px 0', borderBottom: '1px solid #DCE3ED' }}&gt;&#10;                &lt;Text style={{ fontSize: 16.5, fontWeight: 600, color: '#0F172A', width: 190, lineHeight: 1.45 }}&gt;frp 一类&lt;br /&gt;反向代理&lt;/Text&gt;&#10;                &lt;Text style={{ fontSize: 13.5, color: '#64748B', width: 200, lineHeight: 1.6 }}&gt;反向连接、端口映射，能力上确实够。&lt;/Text&gt;&#10;                &lt;Text style={{ fontSize: 14, color: '#0F172A', flex: 1, lineHeight: 1.6 }}&gt;它给的是能力，不是系统：配置下发、按客户端隔离、撤销存量连接、流量计量都要自己搭。&lt;/Text&gt;&#10;            &lt;/Box&gt;&#10;&#10;            &lt;Box style={{ height: 106, flexDirection: 'row', gap: 16, padding: '14px 0', borderBottom: '1px solid #DCE3ED' }}&gt;&#10;                &lt;Text style={{ fontSize: 16.5, fontWeight: 600, color: '#0F172A', width: 190, lineHeight: 1.45 }}&gt;ssh -R /&lt;br /&gt;自写脚本&lt;/Text&gt;&#10;                &lt;Text style={{ fontSize: 13.5, color: '#64748B', width: 200, lineHeight: 1.6 }}&gt;零成本，几分钟就能打通一条。&lt;/Text&gt;&#10;                &lt;Text style={{ fontSize: 14, color: '#0F172A', flex: 1, lineHeight: 1.6 }}&gt;没有身份模型，没有重连与半关闭的语义保证，也没有可观测性。一条好用，一百条是事故。&lt;/Text&gt;&#10;            &lt;/Box&gt;&#10;&#10;            &lt;Box style={{ height: 106, flexDirection: 'row', gap: 16, padding: '14px 0' }}&gt;&#10;                &lt;Text style={{ fontSize: 16.5, fontWeight: 600, color: '#0F172A', width: 190, lineHeight: 1.45 }}&gt;商业穿透 /&lt;br /&gt;远程接入 SaaS&lt;/Text&gt;&#10;                &lt;Text style={{ fontSize: 13.5, color: '#64748B', width: 200, lineHeight: 1.6 }}&gt;开箱即用，有现成控制台。&lt;/Text&gt;&#10;                &lt;Text style={{ fontSize: 14, color: '#0F172A', flex: 1, lineHeight: 1.6 }}&gt;按点位或带宽计费，几百个门店是持续支出；数据要过第三方链路，合规多一道关。&lt;/Text&gt;&#10;            &lt;/Box&gt;&#10;&#10;            &lt;Box style={{ height: 47, marginTop: 8 }}&gt;&#10;                &lt;Text style={{ fontSize: 12.5, color: '#64748B', lineHeight: 1.55 }}&gt;公平地说：frp 与 ssh -R 都能靠扩展达到要求，仓库文档里的适配判断只针对本项目需求；VPN 也不是不能用，它只是不在小型机构的预算和人力里。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06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518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01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现有方案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51816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能连上是一回事，管得住是另一回事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609600" y="1181100"/>
            <a:ext cx="2857500" cy="49911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57250" y="14478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60A5FA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857250" y="1752600"/>
            <a:ext cx="2362200" cy="1343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缺口不在</a:t>
            </a:r>
            <a:endParaRPr/>
          </a:p>
          <a:p>
            <a:pPr>
              <a:lnSpc>
                <a:spcPct val="13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能不能连上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在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谁管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857250" y="3876675"/>
            <a:ext cx="4953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57250" y="4076700"/>
            <a:ext cx="23622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RelayLink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把鉴权、配置下发、可观测、撤销做进服务端，而不是留给使用者自己拼。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857250" y="5048250"/>
            <a:ext cx="23622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对小型机构和个人，价格与上手难度本身就是硬约束——不是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多花点时间就能学会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3733800" y="1181100"/>
            <a:ext cx="7848600" cy="381000"/>
          </a:xfrm>
          <a:custGeom>
            <a:pathLst>
              <a:path w="824" h="40">
                <a:moveTo>
                  <a:pt x="0" y="38"/>
                </a:moveTo>
                <a:lnTo>
                  <a:pt x="824" y="38"/>
                </a:lnTo>
                <a:lnTo>
                  <a:pt x="824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F172A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733800" y="1295400"/>
            <a:ext cx="1809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 spc="75">
                <a:solidFill>
                  <a:srgbClr val="64748B"/>
                </a:solidFill>
                <a:latin typeface="Microsoft YaHei"/>
                <a:ea typeface="Microsoft YaHei"/>
              </a:rPr>
              <a:t>方案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5695950" y="1295400"/>
            <a:ext cx="1905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 spc="75">
                <a:solidFill>
                  <a:srgbClr val="64748B"/>
                </a:solidFill>
                <a:latin typeface="Microsoft YaHei"/>
                <a:ea typeface="Microsoft YaHei"/>
              </a:rPr>
              <a:t>能做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7753350" y="1295400"/>
            <a:ext cx="3829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 spc="75">
                <a:solidFill>
                  <a:srgbClr val="64748B"/>
                </a:solidFill>
                <a:latin typeface="Microsoft YaHei"/>
                <a:ea typeface="Microsoft YaHei"/>
              </a:rPr>
              <a:t>卡在哪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3733800" y="1562100"/>
            <a:ext cx="7848600" cy="1009650"/>
          </a:xfrm>
          <a:custGeom>
            <a:pathLst>
              <a:path w="824" h="106">
                <a:moveTo>
                  <a:pt x="0" y="105"/>
                </a:moveTo>
                <a:lnTo>
                  <a:pt x="824" y="105"/>
                </a:lnTo>
                <a:lnTo>
                  <a:pt x="824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3733800" y="1695450"/>
            <a:ext cx="1809750" cy="733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VPN / SD-WAN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695950" y="1695450"/>
            <a:ext cx="19050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把两地网络拉平，什么协议都能跑。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7753350" y="1695450"/>
            <a:ext cx="38290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要么在门店侧开入站，要么上专线和硬件；几百个点位的设备、证书、账号生命周期本身就是一份全职工作。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3733800" y="2571750"/>
            <a:ext cx="7848600" cy="1009650"/>
          </a:xfrm>
          <a:custGeom>
            <a:pathLst>
              <a:path w="824" h="106">
                <a:moveTo>
                  <a:pt x="0" y="105"/>
                </a:moveTo>
                <a:lnTo>
                  <a:pt x="824" y="105"/>
                </a:lnTo>
                <a:lnTo>
                  <a:pt x="824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3733800" y="2705100"/>
            <a:ext cx="1809750" cy="733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frp </a:t>
            </a:r>
            <a:r>
              <a:rPr lang="zh-CN" sz="1238" b="1">
                <a:solidFill>
                  <a:srgbClr val="0F172A"/>
                </a:solidFill>
                <a:latin typeface="Microsoft YaHei"/>
                <a:ea typeface="Microsoft YaHei"/>
              </a:rPr>
              <a:t>一类</a:t>
            </a:r>
            <a:endParaRPr/>
          </a:p>
          <a:p>
            <a:pPr>
              <a:lnSpc>
                <a:spcPct val="145000"/>
              </a:lnSpc>
            </a:pPr>
            <a:r>
              <a:rPr lang="zh-CN" sz="1238" b="1">
                <a:solidFill>
                  <a:srgbClr val="0F172A"/>
                </a:solidFill>
                <a:latin typeface="Microsoft YaHei"/>
                <a:ea typeface="Microsoft YaHei"/>
              </a:rPr>
              <a:t>反向代理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695950" y="2705100"/>
            <a:ext cx="19050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反向连接、端口映射，能力上确实够。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7753350" y="2705100"/>
            <a:ext cx="38290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它给的是能力，不是系统：配置下发、按客户端隔离、撤销存量连接、流量计量都要自己搭。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3733800" y="3581400"/>
            <a:ext cx="7848600" cy="1009650"/>
          </a:xfrm>
          <a:custGeom>
            <a:pathLst>
              <a:path w="824" h="106">
                <a:moveTo>
                  <a:pt x="0" y="105"/>
                </a:moveTo>
                <a:lnTo>
                  <a:pt x="824" y="105"/>
                </a:lnTo>
                <a:lnTo>
                  <a:pt x="824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3733800" y="3714750"/>
            <a:ext cx="1809750" cy="733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ssh -R /</a:t>
            </a:r>
            <a:endParaRPr/>
          </a:p>
          <a:p>
            <a:pPr>
              <a:lnSpc>
                <a:spcPct val="145000"/>
              </a:lnSpc>
            </a:pPr>
            <a:r>
              <a:rPr lang="zh-CN" sz="1238" b="1">
                <a:solidFill>
                  <a:srgbClr val="0F172A"/>
                </a:solidFill>
                <a:latin typeface="Microsoft YaHei"/>
                <a:ea typeface="Microsoft YaHei"/>
              </a:rPr>
              <a:t>自写脚本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5695950" y="3714750"/>
            <a:ext cx="19050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零成本，几分钟就能打通一条。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7753350" y="3714750"/>
            <a:ext cx="38290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没有身份模型，没有重连与半关闭的语义保证，也没有可观测性。一条好用，一百条是事故。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3733800" y="4724400"/>
            <a:ext cx="1809750" cy="7429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38" b="1">
                <a:solidFill>
                  <a:srgbClr val="0F172A"/>
                </a:solidFill>
                <a:latin typeface="Microsoft YaHei"/>
                <a:ea typeface="Microsoft YaHei"/>
              </a:rPr>
              <a:t>商业穿透</a:t>
            </a: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 /</a:t>
            </a:r>
            <a:endParaRPr/>
          </a:p>
          <a:p>
            <a:pPr>
              <a:lnSpc>
                <a:spcPct val="145000"/>
              </a:lnSpc>
            </a:pPr>
            <a:r>
              <a:rPr lang="zh-CN" sz="1238" b="1">
                <a:solidFill>
                  <a:srgbClr val="0F172A"/>
                </a:solidFill>
                <a:latin typeface="Microsoft YaHei"/>
                <a:ea typeface="Microsoft YaHei"/>
              </a:rPr>
              <a:t>远程接入</a:t>
            </a: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 SaaS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5695950" y="4724400"/>
            <a:ext cx="1905000" cy="7429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64748B"/>
                </a:solidFill>
                <a:latin typeface="Microsoft YaHei"/>
                <a:ea typeface="Microsoft YaHei"/>
              </a:rPr>
              <a:t>开箱即用，有现成控制台。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753350" y="4724400"/>
            <a:ext cx="382905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按点位或带宽计费，几百个门店是持续支出；数据要过第三方链路，合规多一道关。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3733800" y="5676900"/>
            <a:ext cx="78486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公平地说：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frp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ssh -R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都能靠扩展达到要求，仓库文档里的适配判断只针对本项目需求；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VPN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也不是不能用，它只是不在小型机构的预算和人力里。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22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57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1 · 架构总览&lt;/Text&gt;&#10;            &lt;Box style={{ height: 8 }} /&gt;&#10;            &lt;Text style={{ fontSize: 34, fontWeight: 'bold', color: '#0F172A', lineHeight: 1.25 }}&gt;服务端只负责&quot;被连接&quot;，内网侧零入站端口&lt;/Text&gt;&#10;        &lt;/Box&gt;&#10;        &lt;Box style={{ width: 4, height: 44, background: '#2563EB' }} /&gt;&#10;    &lt;/Box&gt;&#10;&#10;    &lt;Box style={{ height: 524, marginTop: 16 }}&gt;&#10;        &lt;Box style={{ height: 325, flexDirection: 'row', alignItems: 'stretch', gap: 15 }}&gt;&#10;            &lt;Box style={{ width: 252, border: '1.5px dashed #CBD5E1', borderRadius: 10, background: '#EEF2F8', padding: '14px 16px' }}&gt;&#10;                &lt;Text style={{ fontSize: 14, fontWeight: 600, color: '#64748B', letterSpacing: 1 }}&gt;云端内网 / VPC&lt;/Text&gt;&#10;                &lt;Box style={{ height: 12 }} /&gt;&#10;                &lt;Box style={{ background: '#FFFFFF', borderRadius: 8, padding: '12px 14px' }}&gt;&#10;                    &lt;Text style={{ fontSize: 16, fontWeight: 600, color: '#0F172A' }}&gt;云端业务服务&lt;/Text&gt;&#10;                    &lt;Box style={{ height: 6 }} /&gt;&#10;                    &lt;Text style={{ fontSize: 13, color: '#64748B' }}&gt;tcp:10.20.0.10,21433&lt;/Text&gt;&#10;                &lt;/Box&gt;&#10;                &lt;Box style={{ height: 10 }} /&gt;&#10;                &lt;Box style={{ background: '#FFFFFF', borderRadius: 8, padding: '12px 14px' }}&gt;&#10;                    &lt;Text style={{ fontSize: 16, fontWeight: 600, color: '#0F172A' }}&gt;管理浏览器&lt;/Text&gt;&#10;                    &lt;Box style={{ height: 6 }} /&gt;&#10;                    &lt;Text style={{ fontSize: 13, color: '#64748B' }}&gt;http://10.20.0.10:18080&lt;/Text&gt;&#10;                &lt;/Box&gt;&#10;                &lt;Box style={{ height: 10 }} /&gt;&#10;                &lt;Text style={{ fontSize: 13, color: '#94A3B8', lineHeight: 1.5 }}&gt;业务端口与管理页由云安全组限制在受信任网络。&lt;/Text&gt;&#10;            &lt;/Box&gt;&#10;&#10;            &lt;Box style={{ width: 54, justifyContent: 'center', alignItems: 'center' }}&gt;&#10;                &lt;Text style={{ fontSize: 20, color: '#2563EB', fontWeight: 'bold' }}&gt;→&lt;/Text&gt;&#10;                &lt;Box style={{ width: '100%', height: 2, background: '#2563EB' }} /&gt;&#10;                &lt;Box style={{ height: 8 }} /&gt;&#10;                &lt;Text style={{ fontSize: 12, color: '#64748B', textAlign: 'center', lineHeight: 1.4 }}&gt;业务&lt;br /&gt;21433&lt;/Text&gt;&#10;            &lt;/Box&gt;&#10;&#10;            &lt;Box style={{ width: 210, background: '#0F172A', borderRadius: 10, padding: '16px 16px' }}&gt;&#10;                &lt;Text style={{ fontSize: 18, fontWeight: 'bold', color: '#FFFFFF' }}&gt;RelayLink Server&lt;/Text&gt;&#10;                &lt;Box style={{ height: 6 }} /&gt;&#10;                &lt;Text style={{ fontSize: 12, color: '#60A5FA' }}&gt;Linux / Windows&lt;/Text&gt;&#10;                &lt;Box style={{ height: 16 }} /&gt;&#10;                &lt;Box style={{ height: 2, background: '#2563EB', width: 40 }} /&gt;&#10;                &lt;Box style={{ height: 14 }} /&gt;&#10;                &lt;Text style={{ fontSize: 13, color: '#FFFFFF', lineHeight: 1.7 }}&gt;控制入口 7443 · TLS&lt;/Text&gt;&#10;                &lt;Text style={{ fontSize: 13, color: '#FFFFFF', lineHeight: 1.7 }}&gt;数据入口 7444 · TCP&lt;/Text&gt;&#10;                &lt;Text style={{ fontSize: 13, color: '#CBD5E1', lineHeight: 1.7 }}&gt;业务监听 21433…&lt;/Text&gt;&#10;                &lt;Text style={{ fontSize: 13, color: '#CBD5E1', lineHeight: 1.7 }}&gt;管理页 18080&lt;/Text&gt;&#10;                &lt;Box style={{ height: 14 }} /&gt;&#10;                &lt;Text style={{ fontSize: 12, color: '#94A3B8', lineHeight: 1.5 }}&gt;通道、密钥、访问映射与安全组全部集中在这里。&lt;/Text&gt;&#10;            &lt;/Box&gt;&#10;&#10;            &lt;Box style={{ width: 54, justifyContent: 'center', alignItems: 'center' }}&gt;&#10;                &lt;Text style={{ fontSize: 20, color: '#2563EB', fontWeight: 'bold' }}&gt;←&lt;/Text&gt;&#10;                &lt;Box style={{ width: '100%', height: 2, background: '#2563EB' }} /&gt;&#10;                &lt;Box style={{ height: 8 }} /&gt;&#10;                &lt;Text style={{ fontSize: 12, color: '#64748B', textAlign: 'center', lineHeight: 1.4 }}&gt;Agent&lt;br /&gt;主动发起&lt;/Text&gt;&#10;            &lt;/Box&gt;&#10;&#10;            &lt;Box style={{ width: 520, border: '1.5px solid #DCE3ED', borderRadius: 10, padding: '14px 16px', justifyContent: 'space-between' }}&gt;&#10;                &lt;Text style={{ fontSize: 14, fontWeight: 600, color: '#64748B', letterSpacing: 1 }}&gt;各地内网 · 无任何公网入站端口&lt;/Text&gt;&#10;                &lt;Box style={{ height: 78, flexDirection: 'row', alignItems: 'center', gap: 10 }}&gt;&#10;                    &lt;Box style={{ width: 150, background: '#EEF2F8', borderRadius: 8, padding: '10px 12px' }}&gt;&#10;                        &lt;Text style={{ fontSize: 15, fontWeight: 600, color: '#0F172A' }}&gt;上海 Agent&lt;/Text&gt;&#10;                        &lt;Box style={{ height: 4 }} /&gt;&#10;                        &lt;Text style={{ fontSize: 12, color: '#64748B' }}&gt;Windows Service&lt;/Text&gt;&#10;                    &lt;/Box&gt;&#10;                    &lt;Box style={{ width: 46, alignItems: 'center' }}&gt;&#10;                        &lt;Text style={{ fontSize: 15, color: '#2563EB', fontWeight: 'bold' }}&gt;→&lt;/Text&gt;&#10;                        &lt;Box style={{ width: '100%', height: 2, background: '#2563EB' }} /&gt;&#10;                    &lt;/Box&gt;&#10;                    &lt;Box style={{ flex: 1, background: '#FFFFFF', border: '1.5px solid #DCE3ED', borderRadius: 8, padding: '10px 12px' }}&gt;&#10;                        &lt;Text style={{ fontSize: 15, fontWeight: 600, color: '#0F172A' }}&gt;SQL Server&lt;/Text&gt;&#10;                        &lt;Box style={{ height: 4 }} /&gt;&#10;                        &lt;Text style={{ fontSize: 12, color: '#64748B' }}&gt;192.168.10.20:1433&lt;/Text&gt;&#10;                    &lt;/Box&gt;&#10;                &lt;/Box&gt;&#10;                &lt;Box style={{ height: 78, flexDirection: 'row', alignItems: 'center', gap: 10 }}&gt;&#10;                    &lt;Box style={{ width: 150, background: '#EEF2F8', borderRadius: 8, padding: '10px 12px' }}&gt;&#10;                        &lt;Text style={{ fontSize: 15, fontWeight: 600, color: '#0F172A' }}&gt;成都 Agent&lt;/Text&gt;&#10;                        &lt;Box style={{ height: 4 }} /&gt;&#10;                        &lt;Text style={{ fontSize: 12, color: '#64748B' }}&gt;Windows Service&lt;/Text&gt;&#10;                    &lt;/Box&gt;&#10;                    &lt;Box style={{ width: 46, alignItems: 'center' }}&gt;&#10;                        &lt;Text style={{ fontSize: 15, color: '#2563EB', fontWeight: 'bold' }}&gt;→&lt;/Text&gt;&#10;                        &lt;Box style={{ width: '100%', height: 2, background: '#2563EB' }} /&gt;&#10;                    &lt;/Box&gt;&#10;                    &lt;Box style={{ flex: 1, background: '#FFFFFF', border: '1.5px solid #DCE3ED', borderRadius: 8, padding: '10px 12px' }}&gt;&#10;                        &lt;Text style={{ fontSize: 15, fontWeight: 600, color: '#0F172A' }}&gt;SQL Server&lt;/Text&gt;&#10;                        &lt;Box style={{ height: 4 }} /&gt;&#10;                        &lt;Text style={{ fontSize: 12, color: '#64748B' }}&gt;192.168.10.20:1433&lt;/Text&gt;&#10;                    &lt;/Box&gt;&#10;                &lt;/Box&gt;&#10;                &lt;Box style={{ height: 78, flexDirection: 'row', alignItems: 'center', gap: 10 }}&gt;&#10;                    &lt;Box style={{ width: 150, background: '#EEF2F8', borderRadius: 8, padding: '10px 12px' }}&gt;&#10;                        &lt;Text style={{ fontSize: 15, fontWeight: 600, color: '#0F172A' }}&gt;门店 Agent&lt;/Text&gt;&#10;                        &lt;Box style={{ height: 4 }} /&gt;&#10;                        &lt;Text style={{ fontSize: 12, color: '#64748B' }}&gt;Windows Service&lt;/Text&gt;&#10;                    &lt;/Box&gt;&#10;                    &lt;Box style={{ width: 46, alignItems: 'center' }}&gt;&#10;                        &lt;Text style={{ fontSize: 15, color: '#2563EB', fontWeight: 'bold' }}&gt;→&lt;/Text&gt;&#10;                        &lt;Box style={{ width: '100%', height: 2, background: '#2563EB' }} /&gt;&#10;                    &lt;/Box&gt;&#10;                    &lt;Box style={{ flex: 1, background: '#FFFFFF', border: '1.5px solid #DCE3ED', borderRadius: 8, padding: '10px 12px' }}&gt;&#10;                        &lt;Text style={{ fontSize: 15, fontWeight: 600, color: '#0F172A' }}&gt;其他 TCP 服务&lt;/Text&gt;&#10;                        &lt;Box style={{ height: 4 }} /&gt;&#10;                        &lt;Text style={{ fontSize: 12, color: '#64748B' }}&gt;内网可达即可&lt;/Text&gt;&#10;                    &lt;/Box&gt;&#10;                &lt;/Box&gt;&#10;            &lt;/Box&gt;&#10;        &lt;/Box&gt;&#10;&#10;        &lt;Box style={{ height: 185, marginTop: 14, flexDirection: 'row', gap: 26 }}&gt;&#10;            &lt;Box style={{ width: 420, background: '#FFFFFF', border: '1.5px solid #DCE3ED', borderRadius: 10, padding: '20px 22px', justifyContent: 'space-between' }}&gt;&#10;                &lt;Box&gt;&#10;                    &lt;Text style={{ fontSize: 20, fontWeight: 600, color: '#0F172A' }}&gt;出网是唯一前提&lt;/Text&gt;&#10;                    &lt;Box style={{ height: 10 }} /&gt;&#10;                    &lt;Text style={{ fontSize: 15, color: '#64748B', lineHeight: 1.6 }}&gt;只要 Agent 所在网络允许出站 TCP 到控制端口和数据端口，链路就成立。内网不需要任何入站映射、不需要公网 IP、不需要改防火墙放行规则。&lt;/Text&gt;&#10;                &lt;/Box&gt;&#10;                &lt;Text style={{ fontSize: 13, color: '#2563EB', fontWeight: 600 }}&gt;部署前置条件最少化&lt;/Text&gt;&#10;            &lt;/Box&gt;&#10;            &lt;Box style={{ width: 300, background: '#EEF2F8', borderRadius: 10, padding: '20px 22px', justifyContent: 'space-between' }}&gt;&#10;                &lt;Box&gt;&#10;                    &lt;Text style={{ fontSize: 20, fontWeight: 600, color: '#0F172A' }}&gt;配置在服务端&lt;/Text&gt;&#10;                    &lt;Box style={{ height: 10 }} /&gt;&#10;                    &lt;Text style={{ fontSize: 15, color: '#64748B', lineHeight: 1.6 }}&gt;每客户端一个 JSON 文件：独立密钥、通道、访问映射。改完立即下发新快照。&lt;/Text&gt;&#10;                &lt;/Box&gt;&#10;                &lt;Text style={{ fontSize: 13, color: '#64748B', fontWeight: 600 }}&gt;集中管理 · 版本化下发&lt;/Text&gt;&#10;            &lt;/Box&gt;&#10;            &lt;Box style={{ width: 380, background: '#FFFFFF', border: '1.5px solid #DCE3ED', borderRadius: 10, padding: '20px 22px', justifyContent: 'space-between' }}&gt;&#10;                &lt;Box&gt;&#10;                    &lt;Text style={{ fontSize: 20, fontWeight: 600, color: '#0F172A' }}&gt;Agent 只认下发的快照&lt;/Text&gt;&#10;                    &lt;Box style={{ height: 10 }} /&gt;&#10;                    &lt;Text style={{ fontSize: 15, color: '#64748B', lineHeight: 1.6 }}&gt;本地不落地通道配置，拿不到快照就不启动转发——避免机器重启后拿一份过期缓存继续转发流量。&lt;/Text&gt;&#10;                &lt;/Box&gt;&#10;                &lt;Text style={{ fontSize: 13, color: '#2563EB', fontWeight: 600 }}&gt;fail closed，不是 fail open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07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617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01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架构总览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61722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服务端只负责</a:t>
            </a: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被连接</a:t>
            </a: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，内网侧零入站端口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62" name=""/>
          <p:cNvSpPr/>
          <p:nvPr/>
        </p:nvSpPr>
        <p:spPr>
          <a:xfrm rot="0" flipH="0" flipV="0">
            <a:off x="609600" y="1181100"/>
            <a:ext cx="2400300" cy="3095625"/>
          </a:xfrm>
          <a:prstGeom prst="roundRect">
            <a:avLst>
              <a:gd name="adj" fmla="val 3968"/>
            </a:avLst>
          </a:prstGeom>
          <a:solidFill>
            <a:srgbClr val="EEF2F8"/>
          </a:solidFill>
          <a:ln w="1905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62000" y="13144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64748B"/>
                </a:solidFill>
                <a:latin typeface="Microsoft YaHei"/>
                <a:ea typeface="Microsoft YaHei"/>
              </a:rPr>
              <a:t>云端内网</a:t>
            </a:r>
            <a:r>
              <a:rPr lang="en-US" sz="1050" b="1" spc="75">
                <a:solidFill>
                  <a:srgbClr val="64748B"/>
                </a:solidFill>
                <a:latin typeface="Microsoft YaHei"/>
                <a:ea typeface="Microsoft YaHei"/>
              </a:rPr>
              <a:t> / VPC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762000" y="1590675"/>
            <a:ext cx="20955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95350" y="1704975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云端业务服务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95350" y="195262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tcp:10.20.0.10,21433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762000" y="2314575"/>
            <a:ext cx="20955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95350" y="2428875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管理浏览器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95350" y="267652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http://10.20.0.10:18080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762000" y="3038475"/>
            <a:ext cx="20955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业务端口与管理页由云安全组限制在受信任网络。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3314700" y="23717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3152775" y="2600325"/>
            <a:ext cx="5143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3238500" y="2695575"/>
            <a:ext cx="342900" cy="3905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业务</a:t>
            </a:r>
            <a:endParaRPr/>
          </a:p>
          <a:p>
            <a:pPr algn="ctr"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21433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3810000" y="1181100"/>
            <a:ext cx="2000250" cy="3095625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3962400" y="133350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RelayLink Server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3962400" y="160020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0A5FA"/>
                </a:solidFill>
                <a:latin typeface="Microsoft YaHei"/>
                <a:ea typeface="Microsoft YaHei"/>
              </a:rPr>
              <a:t>Linux / Windows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3962400" y="1895475"/>
            <a:ext cx="38100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3962400" y="2047875"/>
            <a:ext cx="169545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控制入口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 7443 · TLS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3962400" y="2305050"/>
            <a:ext cx="169545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数据入口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 7444 · TCP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3962400" y="2562225"/>
            <a:ext cx="169545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业务监听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21433…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3962400" y="2819400"/>
            <a:ext cx="169545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管理页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18080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3962400" y="3209925"/>
            <a:ext cx="16954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通道、密钥、访问映射与安全组全部集中在这里。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115050" y="23717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←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5953125" y="2600325"/>
            <a:ext cx="5143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5981700" y="2695575"/>
            <a:ext cx="457200" cy="3905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Agent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主动发起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6610350" y="1181100"/>
            <a:ext cx="4953000" cy="3095625"/>
          </a:xfrm>
          <a:prstGeom prst="roundRect">
            <a:avLst>
              <a:gd name="adj" fmla="val 3077"/>
            </a:avLst>
          </a:prstGeom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762750" y="1314450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64748B"/>
                </a:solidFill>
                <a:latin typeface="Microsoft YaHei"/>
                <a:ea typeface="Microsoft YaHei"/>
              </a:rPr>
              <a:t>各地内网</a:t>
            </a:r>
            <a:r>
              <a:rPr lang="en-US" sz="1050" b="1" spc="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 b="1" spc="75">
                <a:solidFill>
                  <a:srgbClr val="64748B"/>
                </a:solidFill>
                <a:latin typeface="Microsoft YaHei"/>
                <a:ea typeface="Microsoft YaHei"/>
              </a:rPr>
              <a:t>无任何公网入站端口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762750" y="1724025"/>
            <a:ext cx="1428750" cy="542925"/>
          </a:xfrm>
          <a:prstGeom prst="roundRect">
            <a:avLst>
              <a:gd name="adj" fmla="val 14035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877050" y="1819275"/>
            <a:ext cx="120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上海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877050" y="2028825"/>
            <a:ext cx="1200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Windows Service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439150" y="18954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8286750" y="2066925"/>
            <a:ext cx="4381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8820150" y="1724025"/>
            <a:ext cx="259080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934450" y="1819275"/>
            <a:ext cx="236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SQL Server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934450" y="202882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192.168.10.20:1433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762750" y="2619375"/>
            <a:ext cx="1428750" cy="542925"/>
          </a:xfrm>
          <a:prstGeom prst="roundRect">
            <a:avLst>
              <a:gd name="adj" fmla="val 14035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6877050" y="2714625"/>
            <a:ext cx="120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成都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877050" y="2924175"/>
            <a:ext cx="1200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Windows Service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8439150" y="27908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8286750" y="2962275"/>
            <a:ext cx="4381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01" name=""/>
          <p:cNvSpPr/>
          <p:nvPr/>
        </p:nvSpPr>
        <p:spPr>
          <a:xfrm rot="0" flipH="0" flipV="0">
            <a:off x="8820150" y="2619375"/>
            <a:ext cx="259080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934450" y="2714625"/>
            <a:ext cx="236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SQL Server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934450" y="29241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192.168.10.20:1433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762750" y="3505200"/>
            <a:ext cx="1428750" cy="542925"/>
          </a:xfrm>
          <a:prstGeom prst="roundRect">
            <a:avLst>
              <a:gd name="adj" fmla="val 14035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877050" y="3600450"/>
            <a:ext cx="120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门店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6877050" y="3810000"/>
            <a:ext cx="1200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Windows Service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439150" y="36766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8286750" y="3848100"/>
            <a:ext cx="4381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09" name=""/>
          <p:cNvSpPr/>
          <p:nvPr/>
        </p:nvSpPr>
        <p:spPr>
          <a:xfrm rot="0" flipH="0" flipV="0">
            <a:off x="8820150" y="3505200"/>
            <a:ext cx="259080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8934450" y="3600450"/>
            <a:ext cx="236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其他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TCP 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934450" y="3810000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内网可达即可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609600" y="4410075"/>
            <a:ext cx="4000500" cy="176212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819150" y="460057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出网是唯一前提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3581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只要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所在网络允许出站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到控制端口和数据端口，链路就成立。内网不需要任何入站映射、不需要公网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IP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、不需要改防火墙放行规则。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19150" y="5829300"/>
            <a:ext cx="3581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部署前置条件最少化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4857750" y="4410075"/>
            <a:ext cx="2857500" cy="1762125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5067300" y="4600575"/>
            <a:ext cx="2438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配置在服务端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5067300" y="4924425"/>
            <a:ext cx="2438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每客户端一个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JSON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文件：独立密钥、通道、访问映射。改完立即下发新快照。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5067300" y="5829300"/>
            <a:ext cx="243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Microsoft YaHei"/>
                <a:ea typeface="Microsoft YaHei"/>
              </a:rPr>
              <a:t>集中管理</a:t>
            </a:r>
            <a:r>
              <a:rPr lang="en-US" sz="975" b="1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64748B"/>
                </a:solidFill>
                <a:latin typeface="Microsoft YaHei"/>
                <a:ea typeface="Microsoft YaHei"/>
              </a:rPr>
              <a:t>版本化下发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7962900" y="4410075"/>
            <a:ext cx="3619500" cy="176212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172450" y="460057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Agent </a:t>
            </a: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只认下发的快照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172450" y="4924425"/>
            <a:ext cx="3200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本地不落地通道配置，拿不到快照就不启动转发——避免机器重启后拿一份过期缓存继续转发流量。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172450" y="582930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fail closed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，不是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 fail open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22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27" name="" descr="&lt;Slide style={{ width: '1280px', height: '720px', padding: 0, background: '#FFFFFF', flexDirection: 'row', position: 'relative' }}&gt;&#10;    &lt;Box style={{ position: 'absolute', top: 0, right: 0, width: 620, height: 720, background: 'linear-gradient(135deg,#EEF2F8 0%,#FFFFFF 100%)' }} /&gt;&#10;&#10;    &lt;Box style={{ width: 700, height: '100%', padding: '0 40px 0 64px', justifyContent: 'center', zIndex: 1 }}&gt;&#10;        &lt;Text style={{ fontSize: 88, fontWeight: 'bold', color: '#2563EB', lineHeight: 1 }}&gt;02&lt;/Text&gt;&#10;        &lt;Box style={{ height: 18 }} /&gt;&#10;        &lt;Text style={{ fontSize: 54, fontWeight: 'bold', color: '#0F172A', lineHeight: 1.15 }}&gt;架构与协议&lt;br /&gt;控制和数据&lt;br /&gt;为什么要分家&lt;/Text&gt;&#10;        &lt;Box style={{ height: 22 }} /&gt;&#10;        &lt;Box style={{ width: 72, height: 3, background: '#2563EB' }} /&gt;&#10;        &lt;Box style={{ height: 20 }} /&gt;&#10;        &lt;Text style={{ fontSize: 19, color: '#64748B', lineHeight: 1.55 }}&gt;一个端口管&quot;谁可以连&quot;，另一个端口只管&quot;搬字节&quot;。&lt;/Text&gt;&#10;    &lt;/Box&gt;&#10;&#10;    &lt;Box style={{ width: 580, height: '100%', alignItems: 'center', justifyContent: 'center', zIndex: 1 }}&gt;&#10;        &lt;svg width={520} height={430} viewBox='0 0 520 430'&gt;&#10;            &lt;rect x='18' y='128' width='132' height='176' rx='12' fill='#FFFFFF' stroke='#0F172A' strokeWidth='1.8' /&gt;&#10;            &lt;rect x='40' y='152' width='74' height='9' rx='4' fill='#0F172A' /&gt;&#10;            &lt;rect x='40' y='170' width='52' height='7' rx='3' fill='#DCE3ED' /&gt;&#10;            &lt;rect x='40' y='256' width='74' height='7' rx='3' fill='#DCE3ED' /&gt;&#10;            &lt;rect x='40' y='272' width='52' height='7' rx='3' fill='#DCE3ED' /&gt;&#10;&#10;            &lt;rect x='372' y='128' width='132' height='176' rx='12' fill='#0F172A' /&gt;&#10;            &lt;rect x='394' y='152' width='74' height='9' rx='4' fill='#FFFFFF' /&gt;&#10;            &lt;rect x='394' y='170' width='52' height='7' rx='3' fill='#60A5FA' /&gt;&#10;            &lt;rect x='394' y='256' width='74' height='7' rx='3' fill='#FFFFFF' opacity='0.45' /&gt;&#10;            &lt;rect x='394' y='272' width='52' height='7' rx='3' fill='#FFFFFF' opacity='0.28' /&gt;&#10;&#10;            &lt;rect x='164' y='158' width='190' height='28' rx='14' fill='#2563EB' /&gt;&#10;            &lt;path d='M352 172 L336 160 L336 184 Z' fill='#2563EB' /&gt;&#10;            &lt;circle cx='190' cy='172' r='7' fill='#FFFFFF' /&gt;&#10;            &lt;circle cx='214' cy='172' r='7' fill='#FFFFFF' opacity='0.7' /&gt;&#10;            &lt;circle cx='238' cy='172' r='7' fill='#FFFFFF' opacity='0.4' /&gt;&#10;&#10;            &lt;rect x='164' y='248' width='190' height='28' rx='14' fill='#FFFFFF' stroke='#0F172A' strokeWidth='1.8' /&gt;&#10;            &lt;path d='M352 262 L336 250 L336 274 Z' fill='#0F172A' /&gt;&#10;            &lt;rect x='184' y='258' width='16' height='8' rx='2' fill='#0F172A' /&gt;&#10;            &lt;rect x='206' y='258' width='10' height='8' rx='2' fill='#94A3B8' /&gt;&#10;            &lt;rect x='222' y='258' width='22' height='8' rx='2' fill='#94A3B8' /&gt;&#10;            &lt;rect x='250' y='258' width='14' height='8' rx='2' fill='#0F172A' /&gt;&#10;            &lt;rect x='270' y='258' width='18' height='8' rx='2' fill='#94A3B8' /&gt;&#10;&#10;            &lt;rect x='164' y='112' width='120' height='8' rx='4' fill='#DCE3ED' /&gt;&#10;            &lt;rect x='164' y='304' width='86' height='8' rx='4' fill='#DCE3ED' /&gt;&#10;            &lt;rect x='164' y='322' width='120' height='8' rx='4' fill='#DCE3ED' /&gt;&#10;        &lt;/svg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EEF2F8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56769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09600" y="2571750"/>
            <a:ext cx="5676900" cy="2133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架构与协议</a:t>
            </a:r>
            <a:endParaRPr/>
          </a:p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控制和数据</a:t>
            </a:r>
            <a:endParaRPr/>
          </a:p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为什么要分家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09600" y="4914900"/>
            <a:ext cx="6858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09600" y="5133975"/>
            <a:ext cx="567690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一个端口管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谁可以连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，另一个端口只管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搬字节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7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0" y="1381125"/>
            <a:ext cx="4953000" cy="409575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35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2 · 工程结构&lt;/Text&gt;&#10;            &lt;Box style={{ height: 8 }} /&gt;&#10;            &lt;Text style={{ fontSize: 34, fontWeight: 'bold', color: '#0F172A', lineHeight: 1.25 }}&gt;五个工程，各管一件事&lt;/Text&gt;&#10;        &lt;/Box&gt;&#10;        &lt;Box style={{ width: 4, height: 44, background: '#2563EB' }} /&gt;&#10;    &lt;/Box&gt;&#10;&#10;    &lt;Box style={{ height: 524, marginTop: 16, flexDirection: 'row', gap: 28 }}&gt;&#10;        &lt;Box style={{ width: 260, background: '#0F172A', borderRadius: 10, padding: '28px 24px', justifyContent: 'space-between' }}&gt;&#10;            &lt;Box&gt;&#10;                &lt;Text style={{ fontSize: 26, fontWeight: 'bold', color: '#FFFFFF', lineHeight: 1.3 }}&gt;.NET 10&lt;br /&gt;五个工程&lt;/Text&gt;&#10;                &lt;Box style={{ height: 16 }} /&gt;&#10;                &lt;Box style={{ width: 44, height: 3, background: '#2563EB' }} /&gt;&#10;            &lt;/Box&gt;&#10;            &lt;Box&gt;&#10;                &lt;Text style={{ fontSize: 15, color: '#CBD5E1', lineHeight: 1.6 }}&gt;会变的（管理页、部署脚本）和不能错的（帧格式、字节转发）被刻意切开。&lt;/Text&gt;&#10;                &lt;Box style={{ height: 18 }} /&gt;&#10;                &lt;Text style={{ fontSize: 13, color: '#64748B', lineHeight: 1.5 }}&gt;约 7,000 行 C# · 约 2,500 行 TS&lt;/Text&gt;&#10;            &lt;/Box&gt;&#10;        &lt;/Box&gt;&#10;&#10;        &lt;Box style={{ flex: 1, justifyContent: 'space-between' }}&gt;&#10;            &lt;Box style={{ height: 96, flexDirection: 'row', alignItems: 'center', borderBottom: '1px solid #DCE3ED' }}&gt;&#10;                &lt;Box style={{ width: 210 }}&gt;&#10;                    &lt;Text style={{ fontSize: 19, fontWeight: 600, color: '#0F172A' }}&gt;RelayLink.Protocol&lt;/Text&gt;&#10;                    &lt;Text style={{ fontSize: 13, color: '#2563EB' }}&gt;帧 / 消息 / 错误码&lt;/Text&gt;&#10;                &lt;/Box&gt;&#10;                &lt;Text style={{ flex: 1, fontSize: 15, color: '#64748B', lineHeight: 1.6 }}&gt;帧头编解码、消息 DTO、错误码、协议版本与配置摘要哈希。Server 与 Agent 引用同一份定义，杜绝两侧各写一版解析。&lt;/Text&gt;&#10;            &lt;/Box&gt;&#10;&#10;            &lt;Box style={{ height: 96, flexDirection: 'row', alignItems: 'center', borderBottom: '1px solid #DCE3ED' }}&gt;&#10;                &lt;Box style={{ width: 210 }}&gt;&#10;                    &lt;Text style={{ fontSize: 19, fontWeight: 600, color: '#0F172A' }}&gt;RelayLink.Transport&lt;/Text&gt;&#10;                    &lt;Text style={{ fontSize: 13, color: '#2563EB' }}&gt;TLS / 转发泵&lt;/Text&gt;&#10;                &lt;/Box&gt;&#10;                &lt;Text style={{ flex: 1, fontSize: 15, color: '#64748B', lineHeight: 1.6 }}&gt;TLS 握手、帧读写、双向复制、超时与字节计数。它只负责&quot;怎么把字节搬过去&quot;，不关心搬的是 SQL 还是别的什么。&lt;/Text&gt;&#10;            &lt;/Box&gt;&#10;&#10;            &lt;Box style={{ height: 96, flexDirection: 'row', alignItems: 'center', borderBottom: '1px solid #DCE3ED' }}&gt;&#10;                &lt;Box style={{ width: 210 }}&gt;&#10;                    &lt;Text style={{ fontSize: 19, fontWeight: 600, color: '#0F172A' }}&gt;RelayLink.Server&lt;/Text&gt;&#10;                    &lt;Text style={{ fontSize: 13, color: '#2563EB' }}&gt;宿主 / 管理 API&lt;/Text&gt;&#10;                &lt;/Box&gt;&#10;                &lt;Text style={{ flex: 1, fontSize: 15, color: '#64748B', lineHeight: 1.6 }}&gt;ASP.NET Core 宿主：控制入口、数据入口、通道监听、会话注册表、管理 API 与 SQLite 分钟流量历史。&lt;/Text&gt;&#10;            &lt;/Box&gt;&#10;&#10;            &lt;Box style={{ height: 96, flexDirection: 'row', alignItems: 'center', borderBottom: '1px solid #DCE3ED' }}&gt;&#10;                &lt;Box style={{ width: 210 }}&gt;&#10;                    &lt;Text style={{ fontSize: 19, fontWeight: 600, color: '#0F172A' }}&gt;RelayLink.Agent&lt;/Text&gt;&#10;                    &lt;Text style={{ fontSize: 13, color: '#2563EB' }}&gt;Windows Service&lt;/Text&gt;&#10;                &lt;/Box&gt;&#10;                &lt;Text style={{ flex: 1, fontSize: 15, color: '#64748B', lineHeight: 1.6 }}&gt;Generic Host + Windows Service：控制会话、目标拨号、本机互访入口与只读状态页；同一程序也能以控制台方式调试。&lt;/Text&gt;&#10;            &lt;/Box&gt;&#10;&#10;            &lt;Box style={{ height: 96, flexDirection: 'row', alignItems: 'center' }}&gt;&#10;                &lt;Box style={{ width: 210 }}&gt;&#10;                    &lt;Text style={{ fontSize: 19, fontWeight: 600, color: '#0F172A' }}&gt;RelayLink.AdminWeb&lt;/Text&gt;&#10;                    &lt;Text style={{ fontSize: 13, color: '#2563EB' }}&gt;React + TS + Vite&lt;/Text&gt;&#10;                &lt;/Box&gt;&#10;                &lt;Text style={{ flex: 1, fontSize: 15, color: '#64748B', lineHeight: 1.6 }}&gt;独立前端项目，构建产物复制到 Server 的 wwwroot 由同源托管。生产发布物不依赖 Node.js，也不从 CDN 拉资源。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09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323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02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工程结构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32385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五个工程，各管一件事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40" name=""/>
          <p:cNvSpPr/>
          <p:nvPr/>
        </p:nvSpPr>
        <p:spPr>
          <a:xfrm rot="0" flipH="0" flipV="0">
            <a:off x="609600" y="1181100"/>
            <a:ext cx="2476500" cy="499110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2019300" cy="7810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.NET 10</a:t>
            </a:r>
            <a:endParaRPr/>
          </a:p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五个工程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838200" y="2381250"/>
            <a:ext cx="4191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838200" y="4676775"/>
            <a:ext cx="20193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会变的（管理页、部署脚本）和不能错的（帧格式、字节转发）被刻意切开。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838200" y="56769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约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7,000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C#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约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2,500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TS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3352800" y="1181100"/>
            <a:ext cx="8229600" cy="914400"/>
          </a:xfrm>
          <a:custGeom>
            <a:pathLst>
              <a:path w="864" h="96">
                <a:moveTo>
                  <a:pt x="0" y="95"/>
                </a:moveTo>
                <a:lnTo>
                  <a:pt x="864" y="95"/>
                </a:lnTo>
                <a:lnTo>
                  <a:pt x="86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3352800" y="1447800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RelayLink.Protocol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352800" y="1666875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563EB"/>
                </a:solidFill>
                <a:latin typeface="Microsoft YaHei"/>
                <a:ea typeface="Microsoft YaHei"/>
              </a:rPr>
              <a:t>帧</a:t>
            </a: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2563EB"/>
                </a:solidFill>
                <a:latin typeface="Microsoft YaHei"/>
                <a:ea typeface="Microsoft YaHei"/>
              </a:rPr>
              <a:t>消息</a:t>
            </a: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2563EB"/>
                </a:solidFill>
                <a:latin typeface="Microsoft YaHei"/>
                <a:ea typeface="Microsoft YaHei"/>
              </a:rPr>
              <a:t>错误码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5353050" y="1362075"/>
            <a:ext cx="6229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帧头编解码、消息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DTO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、错误码、协议版本与配置摘要哈希。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Server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引用同一份定义，杜绝两侧各写一版解析。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3352800" y="2200275"/>
            <a:ext cx="8229600" cy="914400"/>
          </a:xfrm>
          <a:custGeom>
            <a:pathLst>
              <a:path w="864" h="96">
                <a:moveTo>
                  <a:pt x="0" y="95"/>
                </a:moveTo>
                <a:lnTo>
                  <a:pt x="864" y="95"/>
                </a:lnTo>
                <a:lnTo>
                  <a:pt x="86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3352800" y="2466975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RelayLink.Transport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3352800" y="2686050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TLS / </a:t>
            </a:r>
            <a:r>
              <a:rPr lang="zh-CN" sz="975">
                <a:solidFill>
                  <a:srgbClr val="2563EB"/>
                </a:solidFill>
                <a:latin typeface="Microsoft YaHei"/>
                <a:ea typeface="Microsoft YaHei"/>
              </a:rPr>
              <a:t>转发泵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5353050" y="2381250"/>
            <a:ext cx="6229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TLS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握手、帧读写、双向复制、超时与字节计数。它只负责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怎么把字节搬过去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，不关心搬的是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SQL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还是别的什么。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3352800" y="3219450"/>
            <a:ext cx="8229600" cy="914400"/>
          </a:xfrm>
          <a:custGeom>
            <a:pathLst>
              <a:path w="864" h="96">
                <a:moveTo>
                  <a:pt x="0" y="95"/>
                </a:moveTo>
                <a:lnTo>
                  <a:pt x="864" y="95"/>
                </a:lnTo>
                <a:lnTo>
                  <a:pt x="86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3352800" y="3486150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RelayLink.Server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3352800" y="3705225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563EB"/>
                </a:solidFill>
                <a:latin typeface="Microsoft YaHei"/>
                <a:ea typeface="Microsoft YaHei"/>
              </a:rPr>
              <a:t>宿主</a:t>
            </a: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2563EB"/>
                </a:solidFill>
                <a:latin typeface="Microsoft YaHei"/>
                <a:ea typeface="Microsoft YaHei"/>
              </a:rPr>
              <a:t>管理</a:t>
            </a: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5353050" y="3400425"/>
            <a:ext cx="6229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ASP.NET Core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宿主：控制入口、数据入口、通道监听、会话注册表、管理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API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SQLite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分钟流量历史。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3352800" y="4238625"/>
            <a:ext cx="8229600" cy="914400"/>
          </a:xfrm>
          <a:custGeom>
            <a:pathLst>
              <a:path w="864" h="96">
                <a:moveTo>
                  <a:pt x="0" y="95"/>
                </a:moveTo>
                <a:lnTo>
                  <a:pt x="864" y="95"/>
                </a:lnTo>
                <a:lnTo>
                  <a:pt x="86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DCE3ED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352800" y="4505325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RelayLink.Agent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3352800" y="4724400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Windows Service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5353050" y="4419600"/>
            <a:ext cx="6229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Generic Host + Windows Service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：控制会话、目标拨号、本机互访入口与只读状态页；同一程序也能以控制台方式调试。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3352800" y="5534025"/>
            <a:ext cx="2000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RelayLink.AdminWeb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3352800" y="5753100"/>
            <a:ext cx="200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React + TS + Vite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5353050" y="5438775"/>
            <a:ext cx="6229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独立前端项目，构建产物复制到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Server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wwwroot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由同源托管。生产发布物不依赖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Node.js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，也不从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CDN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拉资源。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22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2 · 双端口设计&lt;/Text&gt;&#10;            &lt;Box style={{ height: 8 }} /&gt;&#10;            &lt;Text style={{ fontSize: 34, fontWeight: 'bold', color: '#0F172A', lineHeight: 1.25 }}&gt;两个端口，靠一次性令牌缝合成一条连接&lt;/Text&gt;&#10;        &lt;/Box&gt;&#10;        &lt;Box style={{ width: 4, height: 44, background: '#2563EB' }} /&gt;&#10;    &lt;/Box&gt;&#10;&#10;    &lt;Box style={{ height: 524, marginTop: 16, flexDirection: 'row', gap: 28 }}&gt;&#10;        &lt;Box style={{ width: 740 }}&gt;&#10;            &lt;Box style={{ height: 150, background: '#EEF2F8', borderRadius: 10, padding: '20px 24px', flexDirection: 'row', gap: 18 }}&gt;&#10;                &lt;Box style={{ width: 116 }}&gt;&#10;                    &lt;Text style={{ fontSize: 30, fontWeight: 'bold', color: '#2563EB' }}&gt;7443&lt;/Text&gt;&#10;                    &lt;Box style={{ height: 6 }} /&gt;&#10;                    &lt;Text style={{ fontSize: 13, color: '#64748B' }}&gt;控制入口 · TLS&lt;/Text&gt;&#10;                &lt;/Box&gt;&#10;                &lt;Box style={{ flex: 1 }}&gt;&#10;                    &lt;Text style={{ fontSize: 19, fontWeight: 600, color: '#0F172A' }}&gt;只回答&quot;谁可以连&quot;&lt;/Text&gt;&#10;                    &lt;Box style={{ height: 8 }} /&gt;&#10;                    &lt;Text style={{ fontSize: 15, color: '#64748B', lineHeight: 1.6 }}&gt;注册认证、下发配置快照、心跳保活，以及为下一条业务连接派发令牌。它不接受数据绑定的首帧，也不承载任何业务字节。&lt;/Text&gt;&#10;                &lt;/Box&gt;&#10;            &lt;/Box&gt;&#10;&#10;            &lt;Box style={{ height: 150, marginTop: 14, background: '#FFFFFF', border: '1.5px solid #DCE3ED', borderRadius: 10, padding: '20px 24px', flexDirection: 'row', gap: 18 }}&gt;&#10;                &lt;Box style={{ width: 116 }}&gt;&#10;                    &lt;Text style={{ fontSize: 30, fontWeight: 'bold', color: '#0F172A' }}&gt;7444&lt;/Text&gt;&#10;                    &lt;Box style={{ height: 6 }} /&gt;&#10;                    &lt;Text style={{ fontSize: 13, color: '#64748B' }}&gt;数据入口 · TCP&lt;/Text&gt;&#10;                &lt;/Box&gt;&#10;                &lt;Box style={{ flex: 1 }}&gt;&#10;                    &lt;Text style={{ fontSize: 19, fontWeight: 600, color: '#0F172A' }}&gt;只负责&quot;搬字节&quot;&lt;/Text&gt;&#10;                    &lt;Box style={{ height: 8 }} /&gt;&#10;                    &lt;Text style={{ fontSize: 15, color: '#64748B', lineHeight: 1.6 }}&gt;只接受已获授权的连接绑定。绑定完成并收到 Start 之后，这条连接上不再解析任何帧，直接双向复制原始 TCP 字节。&lt;/Text&gt;&#10;                &lt;/Box&gt;&#10;            &lt;/Box&gt;&#10;&#10;            &lt;Box style={{ height: 196, marginTop: 14, background: '#0F172A', borderRadius: 10, padding: '22px 24px', justifyContent: 'space-between' }}&gt;&#10;                &lt;Box&gt;&#10;                    &lt;Text style={{ fontSize: 19, fontWeight: 600, color: '#FFFFFF' }}&gt;令牌把两个端口缝在一起&lt;/Text&gt;&#10;                    &lt;Box style={{ height: 10 }} /&gt;&#10;                    &lt;Text style={{ fontSize: 15, color: '#CBD5E1', lineHeight: 1.65 }}&gt;业务连接到来时，服务端生成 32 字节随机令牌随 Open 发给 Agent；Agent 拿它去数据端口做 BindData。令牌被原子消费恰好一次——重复、过期、跨会话、角色错置全部拒绝，失败后不可恢复。&lt;/Text&gt;&#10;                &lt;/Box&gt;&#10;                &lt;Box style={{ flexDirection: 'row', gap: 14 }}&gt;&#10;                    &lt;Box style={{ background: '#1E293B', borderRadius: 6, padding: '8px 12px' }}&gt;&#10;                        &lt;Text style={{ fontSize: 13, color: '#60A5FA' }}&gt;AwaitingBind&lt;/Text&gt;&#10;                    &lt;/Box&gt;&#10;                    &lt;Box style={{ background: '#1E293B', borderRadius: 6, padding: '8px 12px' }}&gt;&#10;                        &lt;Text style={{ fontSize: 13, color: '#60A5FA' }}&gt;CAS → Bound&lt;/Text&gt;&#10;                    &lt;/Box&gt;&#10;                    &lt;Box style={{ background: '#1E293B', borderRadius: 6, padding: '8px 12px' }}&gt;&#10;                        &lt;Text style={{ fontSize: 13, color: '#60A5FA' }}&gt;令牌哈希立即清除&lt;/Text&gt;&#10;                    &lt;/Box&gt;&#10;                &lt;/Box&gt;&#10;            &lt;/Box&gt;&#10;        &lt;/Box&gt;&#10;&#10;        &lt;Box style={{ width: 384, border: '1.5px solid #DCE3ED', borderRadius: 10, padding: '26px 24px', justifyContent: 'space-between' }}&gt;&#10;            &lt;Box&gt;&#10;                &lt;Text style={{ fontSize: 13, fontWeight: 600, color: '#2563EB', letterSpacing: 2 }}&gt;代价&lt;/Text&gt;&#10;                &lt;Box style={{ height: 14 }} /&gt;&#10;                &lt;Text style={{ fontSize: 24, fontWeight: 'bold', color: '#0F172A', lineHeight: 1.3 }}&gt;数据入口&lt;br /&gt;不叠加 TLS&lt;/Text&gt;&#10;                &lt;Box style={{ height: 18 }} /&gt;&#10;                &lt;Text style={{ fontSize: 15, color: '#64748B', lineHeight: 1.65 }}&gt;普通代理在这段链路上是明文 TCP，绑定元数据同样不保密。因此它只适用于受信隔离链路，或者业务自身已启用端到端 TLS 的场景。&lt;/Text&gt;&#10;                &lt;Box style={{ height: 16 }} /&gt;&#10;                &lt;Text style={{ fontSize: 15, color: '#64748B', lineHeight: 1.65 }}&gt;互访模式不受此限：业务载荷由两端 Agent 之间的内层 TLS 保护，服务端只中继密文。&lt;/Text&gt;&#10;            &lt;/Box&gt;&#10;            &lt;Box&gt;&#10;                &lt;Box style={{ width: 44, height: 3, background: '#2563EB' }} /&gt;&#10;                &lt;Box style={{ height: 14 }} /&gt;&#10;                &lt;Text style={{ fontSize: 14, color: '#0F172A', lineHeight: 1.55, fontWeight: 600 }}&gt;安全组不提供加密，它只能限制来源。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10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582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02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双端口设计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58293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两个端口，靠一次性令牌缝合成一条连接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1181100"/>
            <a:ext cx="7048500" cy="142875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38200" y="1371600"/>
            <a:ext cx="1104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>7443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38200" y="1771650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控制入口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TLS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114550" y="1371600"/>
            <a:ext cx="531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只回答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谁可以连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2114550" y="1666875"/>
            <a:ext cx="5314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注册认证、下发配置快照、心跳保活，以及为下一条业务连接派发令牌。它不接受数据绑定的首帧，也不承载任何业务字节。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09600" y="2743200"/>
            <a:ext cx="70485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38200" y="2933700"/>
            <a:ext cx="1104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7444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8200" y="3333750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数据入口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TCP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114550" y="2933700"/>
            <a:ext cx="531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只负责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搬字节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114550" y="3228975"/>
            <a:ext cx="5314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只接受已获授权的连接绑定。绑定完成并收到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Start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之后，这条连接上不再解析任何帧，直接双向复制原始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字节。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09600" y="4305300"/>
            <a:ext cx="7048500" cy="1866900"/>
          </a:xfrm>
          <a:prstGeom prst="roundRect">
            <a:avLst>
              <a:gd name="adj" fmla="val 510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38200" y="4514850"/>
            <a:ext cx="6591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令牌把两个端口缝在一起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4829175"/>
            <a:ext cx="6591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业务连接到来时，服务端生成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32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字节随机令牌随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Open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发给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Agent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；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Agent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拿它去数据端口做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BindData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。令牌被原子消费恰好一次——重复、过期、跨会话、角色错置全部拒绝，失败后不可恢复。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838200" y="5657850"/>
            <a:ext cx="1019175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52500" y="5734050"/>
            <a:ext cx="790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A5FA"/>
                </a:solidFill>
                <a:latin typeface="Microsoft YaHei"/>
                <a:ea typeface="Microsoft YaHei"/>
              </a:rPr>
              <a:t>AwaitingBind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1990725" y="5657850"/>
            <a:ext cx="1057275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105025" y="57340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A5FA"/>
                </a:solidFill>
                <a:latin typeface="Microsoft YaHei"/>
                <a:ea typeface="Microsoft YaHei"/>
              </a:rPr>
              <a:t>CAS → Bound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181350" y="5657850"/>
            <a:ext cx="1219200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295650" y="57340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令牌哈希立即清除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7924800" y="1181100"/>
            <a:ext cx="3657600" cy="4991100"/>
          </a:xfrm>
          <a:prstGeom prst="roundRect">
            <a:avLst>
              <a:gd name="adj" fmla="val 2604"/>
            </a:avLst>
          </a:prstGeom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153400" y="142875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153400" y="1714500"/>
            <a:ext cx="3200400" cy="714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数据入口</a:t>
            </a:r>
            <a:endParaRPr/>
          </a:p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不叠加</a:t>
            </a:r>
            <a:r>
              <a:rPr lang="en-US" sz="1800" b="1">
                <a:solidFill>
                  <a:srgbClr val="0F172A"/>
                </a:solidFill>
                <a:latin typeface="Microsoft YaHei"/>
                <a:ea typeface="Microsoft YaHei"/>
              </a:rPr>
              <a:t> TLS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153400" y="2600325"/>
            <a:ext cx="32004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普通代理在这段链路上是明文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TCP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，绑定元数据同样不保密。因此它只适用于受信隔离链路，或者业务自身已启用端到端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TLS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的场景。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153400" y="3609975"/>
            <a:ext cx="3200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互访模式不受此限：业务载荷由两端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之间的内层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TLS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保护，服务端只中继密文。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8153400" y="5505450"/>
            <a:ext cx="4191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153400" y="56673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安全组不提供加密，它只能限制来源。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/ 22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2 · 连接时序&lt;/Text&gt;&#10;            &lt;Box style={{ height: 8 }} /&gt;&#10;            &lt;Text style={{ fontSize: 34, fontWeight: 'bold', color: '#0F172A', lineHeight: 1.25 }}&gt;一条业务连接：九步建立，20 秒总预算&lt;/Text&gt;&#10;        &lt;/Box&gt;&#10;        &lt;Box style={{ width: 4, height: 44, background: '#2563EB' }} /&gt;&#10;    &lt;/Box&gt;&#10;&#10;    &lt;Box style={{ height: 524, marginTop: 16 }}&gt;&#10;        &lt;Box style={{ height: 330, background: '#EEF2F8', borderRadius: 10, padding: '14px 18px' }}&gt;&#10;            &lt;Box style={{ height: 46, flexDirection: 'row', alignItems: 'center' }}&gt;&#10;                &lt;Box style={{ width: 320 }}&gt;&#10;                    &lt;Text style={{ fontSize: 13, fontWeight: 600, color: '#64748B' }}&gt;步骤&lt;/Text&gt;&#10;                &lt;/Box&gt;&#10;                &lt;Box style={{ flex: 1, flexDirection: 'row' }}&gt;&#10;                    &lt;Box style={{ width: 190, alignItems: 'center' }}&gt;&#10;                        &lt;Text style={{ fontSize: 14, fontWeight: 600, color: '#0F172A' }}&gt;云端调用方&lt;/Text&gt;&#10;                    &lt;/Box&gt;&#10;                    &lt;Box style={{ width: 190, alignItems: 'center' }}&gt;&#10;                        &lt;Text style={{ fontSize: 14, fontWeight: 600, color: '#0F172A' }}&gt;Server&lt;/Text&gt;&#10;                    &lt;/Box&gt;&#10;                    &lt;Box style={{ width: 190, alignItems: 'center' }}&gt;&#10;                        &lt;Text style={{ fontSize: 14, fontWeight: 600, color: '#0F172A' }}&gt;Agent&lt;/Text&gt;&#10;                    &lt;/Box&gt;&#10;                    &lt;Box style={{ width: 190, alignItems: 'center' }}&gt;&#10;                        &lt;Text style={{ fontSize: 14, fontWeight: 600, color: '#0F172A' }}&gt;内网目标&lt;/Text&gt;&#10;                    &lt;/Box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1&lt;/Text&gt;&#10;                    &lt;Text style={{ fontSize: 14, color: '#0F172A' }}&gt;业务 TCP 连接到代理端口&lt;/Text&gt;&#10;                &lt;/Box&gt;&#10;                &lt;Box style={{ flex: 1, flexDirection: 'row', height: 2 }}&gt;&#10;                    &lt;Box style={{ width: 190, background: '#2563EB' }} /&gt;&#10;                    &lt;Box style={{ width: 190, background: '#2563EB' }} /&gt;&#10;                    &lt;Box style={{ width: 190, background: 'transparent' }} /&gt;&#10;                    &lt;Box style={{ width: 190, background: 'transparent' }} /&gt;&#10;                &lt;/Box&gt;&#10;                &lt;Box style={{ width: 26, alignItems: 'center' }}&gt;&#10;                    &lt;Text style={{ fontSize: 14, color: '#2563EB', fontWeight: 'bold' }}&gt;→&lt;/Text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2&lt;/Text&gt;&#10;                    &lt;Text style={{ fontSize: 14, color: '#0F172A' }}&gt;预留配额，生成 Pending 与一次性令牌&lt;/Text&gt;&#10;                &lt;/Box&gt;&#10;                &lt;Box style={{ flex: 1, flexDirection: 'row', height: 2 }}&gt;&#10;                    &lt;Box style={{ width: 190, background: 'transparent' }} /&gt;&#10;                    &lt;Box style={{ width: 190, background: '#0F172A' }} /&gt;&#10;                    &lt;Box style={{ width: 190, background: 'transparent' }} /&gt;&#10;                    &lt;Box style={{ width: 190, background: 'transparent' }} /&gt;&#10;                &lt;/Box&gt;&#10;                &lt;Box style={{ width: 26, alignItems: 'center' }}&gt;&#10;                    &lt;Text style={{ fontSize: 14, color: '#64748B' }}&gt;·&lt;/Text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3&lt;/Text&gt;&#10;                    &lt;Text style={{ fontSize: 14, color: '#0F172A' }}&gt;Open（走已认证的控制连接）&lt;/Text&gt;&#10;                &lt;/Box&gt;&#10;                &lt;Box style={{ flex: 1, flexDirection: 'row', height: 2 }}&gt;&#10;                    &lt;Box style={{ width: 190, background: 'transparent' }} /&gt;&#10;                    &lt;Box style={{ width: 190, background: '#2563EB' }} /&gt;&#10;                    &lt;Box style={{ width: 190, background: '#2563EB' }} /&gt;&#10;                    &lt;Box style={{ width: 190, background: 'transparent' }} /&gt;&#10;                &lt;/Box&gt;&#10;                &lt;Box style={{ width: 26, alignItems: 'center' }}&gt;&#10;                    &lt;Text style={{ fontSize: 14, color: '#2563EB', fontWeight: 'bold' }}&gt;→&lt;/Text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4&lt;/Text&gt;&#10;                    &lt;Text style={{ fontSize: 14, color: '#0F172A' }}&gt;新建 TCP 到数据端口并 BindData&lt;/Text&gt;&#10;                &lt;/Box&gt;&#10;                &lt;Box style={{ flex: 1, flexDirection: 'row', height: 2 }}&gt;&#10;                    &lt;Box style={{ width: 190, background: 'transparent' }} /&gt;&#10;                    &lt;Box style={{ width: 190, background: '#0F172A' }} /&gt;&#10;                    &lt;Box style={{ width: 190, background: '#0F172A' }} /&gt;&#10;                    &lt;Box style={{ width: 190, background: 'transparent' }} /&gt;&#10;                &lt;/Box&gt;&#10;                &lt;Box style={{ width: 26, alignItems: 'center' }}&gt;&#10;                    &lt;Text style={{ fontSize: 14, color: '#0F172A', fontWeight: 'bold' }}&gt;←&lt;/Text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5&lt;/Text&gt;&#10;                    &lt;Text style={{ fontSize: 14, color: '#0F172A' }}&gt;原子消费令牌 → BindAccepted&lt;/Text&gt;&#10;                &lt;/Box&gt;&#10;                &lt;Box style={{ flex: 1, flexDirection: 'row', height: 2 }}&gt;&#10;                    &lt;Box style={{ width: 190, background: 'transparent' }} /&gt;&#10;                    &lt;Box style={{ width: 190, background: '#2563EB' }} /&gt;&#10;                    &lt;Box style={{ width: 190, background: '#2563EB' }} /&gt;&#10;                    &lt;Box style={{ width: 190, background: 'transparent' }} /&gt;&#10;                &lt;/Box&gt;&#10;                &lt;Box style={{ width: 26, alignItems: 'center' }}&gt;&#10;                    &lt;Text style={{ fontSize: 14, color: '#2563EB', fontWeight: 'bold' }}&gt;→&lt;/Text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6&lt;/Text&gt;&#10;                    &lt;Text style={{ fontSize: 14, color: '#0F172A' }}&gt;拨号快照中指定的目标（5 秒子期限）&lt;/Text&gt;&#10;                &lt;/Box&gt;&#10;                &lt;Box style={{ flex: 1, flexDirection: 'row', height: 2 }}&gt;&#10;                    &lt;Box style={{ width: 190, background: 'transparent' }} /&gt;&#10;                    &lt;Box style={{ width: 190, background: 'transparent' }} /&gt;&#10;                    &lt;Box style={{ width: 190, background: '#2563EB' }} /&gt;&#10;                    &lt;Box style={{ width: 190, background: '#2563EB' }} /&gt;&#10;                &lt;/Box&gt;&#10;                &lt;Box style={{ width: 26, alignItems: 'center' }}&gt;&#10;                    &lt;Text style={{ fontSize: 14, color: '#2563EB', fontWeight: 'bold' }}&gt;→&lt;/Text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7&lt;/Text&gt;&#10;                    &lt;Text style={{ fontSize: 14, color: '#0F172A' }}&gt;TargetReady（回到控制连接）&lt;/Text&gt;&#10;                &lt;/Box&gt;&#10;                &lt;Box style={{ flex: 1, flexDirection: 'row', height: 2 }}&gt;&#10;                    &lt;Box style={{ width: 190, background: 'transparent' }} /&gt;&#10;                    &lt;Box style={{ width: 190, background: '#0F172A' }} /&gt;&#10;                    &lt;Box style={{ width: 190, background: '#0F172A' }} /&gt;&#10;                    &lt;Box style={{ width: 190, background: 'transparent' }} /&gt;&#10;                &lt;/Box&gt;&#10;                &lt;Box style={{ width: 26, alignItems: 'center' }}&gt;&#10;                    &lt;Text style={{ fontSize: 14, color: '#0F172A', fontWeight: 'bold' }}&gt;←&lt;/Text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8&lt;/Text&gt;&#10;                    &lt;Text style={{ fontSize: 14, color: '#0F172A' }}&gt;Start：校验未超时且会话仍有效&lt;/Text&gt;&#10;                &lt;/Box&gt;&#10;                &lt;Box style={{ flex: 1, flexDirection: 'row', height: 2 }}&gt;&#10;                    &lt;Box style={{ width: 190, background: 'transparent' }} /&gt;&#10;                    &lt;Box style={{ width: 190, background: '#2563EB' }} /&gt;&#10;                    &lt;Box style={{ width: 190, background: '#2563EB' }} /&gt;&#10;                    &lt;Box style={{ width: 190, background: 'transparent' }} /&gt;&#10;                &lt;/Box&gt;&#10;                &lt;Box style={{ width: 26, alignItems: 'center' }}&gt;&#10;                    &lt;Text style={{ fontSize: 14, color: '#2563EB', fontWeight: 'bold' }}&gt;→&lt;/Text&gt;&#10;                &lt;/Box&gt;&#10;            &lt;/Box&gt;&#10;&#10;            &lt;Box style={{ height: 28, flexDirection: 'row', alignItems: 'center' }}&gt;&#10;                &lt;Box style={{ width: 320, flexDirection: 'row', alignItems: 'center', gap: 10 }}&gt;&#10;                    &lt;Text style={{ fontSize: 15, fontWeight: 'bold', color: '#2563EB', width: 22 }}&gt;9&lt;/Text&gt;&#10;                    &lt;Text style={{ fontSize: 14, color: '#0F172A' }}&gt;双向复制原始 TCP 字节，不再分帧&lt;/Text&gt;&#10;                &lt;/Box&gt;&#10;                &lt;Box style={{ flex: 1, flexDirection: 'row', height: 2 }}&gt;&#10;                    &lt;Box style={{ width: 190, background: '#2563EB' }} /&gt;&#10;                    &lt;Box style={{ width: 190, background: '#2563EB' }} /&gt;&#10;                    &lt;Box style={{ width: 190, background: '#2563EB' }} /&gt;&#10;                    &lt;Box style={{ width: 190, background: '#2563EB' }} /&gt;&#10;                &lt;/Box&gt;&#10;                &lt;Box style={{ width: 26, alignItems: 'center' }}&gt;&#10;                    &lt;Text style={{ fontSize: 14, color: '#2563EB', fontWeight: 'bold' }}&gt;⇄&lt;/Text&gt;&#10;                &lt;/Box&gt;&#10;            &lt;/Box&gt;&#10;        &lt;/Box&gt;&#10;&#10;        &lt;Box style={{ height: 180, marginTop: 14, flexDirection: 'row', gap: 26 }}&gt;&#10;            &lt;Box style={{ width: 380, background: '#0F172A', borderRadius: 10, padding: '20px 22px', justifyContent: 'space-between' }}&gt;&#10;                &lt;Box&gt;&#10;                    &lt;Text style={{ fontSize: 19, fontWeight: 600, color: '#FFFFFF' }}&gt;20 秒是总预算，不是各步累加&lt;/Text&gt;&#10;                    &lt;Box style={{ height: 10 }} /&gt;&#10;                    &lt;Text style={{ fontSize: 15, color: '#CBD5E1', lineHeight: 1.6 }}&gt;期限从服务端 accept 那一刻开始计时，覆盖绑定、目标拨号到 Start 的全过程；Agent 按收到的剩余预算自算截止时间。&lt;/Text&gt;&#10;                &lt;/Box&gt;&#10;                &lt;Text style={{ fontSize: 13, color: '#60A5FA', fontWeight: 600 }}&gt;服务端期限始终权威&lt;/Text&gt;&#10;            &lt;/Box&gt;&#10;            &lt;Box style={{ width: 420, background: '#FFFFFF', border: '1.5px solid #DCE3ED', borderRadius: 10, padding: '20px 22px', justifyContent: 'space-between' }}&gt;&#10;                &lt;Box&gt;&#10;                    &lt;Text style={{ fontSize: 19, fontWeight: 600, color: '#0F172A' }}&gt;每一步都有独立失败语义&lt;/Text&gt;&#10;                    &lt;Box style={{ height: 10 }} /&gt;&#10;                    &lt;Text style={{ fontSize: 15, color: '#64748B', lineHeight: 1.6 }}&gt;目标拒绝、DNS 失败、隧道超时、容量已满各自分类计数，不会被揉成一个笼统的&quot;连接失败&quot;。一个目标出问题不影响其他通道。&lt;/Text&gt;&#10;                &lt;/Box&gt;&#10;                &lt;Text style={{ fontSize: 13, color: '#2563EB', fontWeight: 600 }}&gt;可观测的前提是分类正确&lt;/Text&gt;&#10;            &lt;/Box&gt;&#10;            &lt;Box style={{ width: 300, background: '#EEF2F8', borderRadius: 10, padding: '20px 22px', justifyContent: 'space-between' }}&gt;&#10;                &lt;Box&gt;&#10;                    &lt;Text style={{ fontSize: 19, fontWeight: 600, color: '#0F172A' }}&gt;失败即关闭，不重放&lt;/Text&gt;&#10;                    &lt;Box style={{ height: 10 }} /&gt;&#10;                    &lt;Text style={{ fontSize: 15, color: '#64748B', lineHeight: 1.6 }}&gt;隧道断开就终止对应业务连接，不恢复原 TCP、不重放 SQL 语句、不自动恢复事务。&lt;/Text&gt;&#10;                &lt;/Box&gt;&#10;                &lt;Text style={{ fontSize: 13, color: '#64748B', fontWeight: 600 }}&gt;事务结果由业务判断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11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5686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02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连接时序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568642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一条业务连接：九步建立，</a:t>
            </a: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20 </a:t>
            </a: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秒总预算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1181100"/>
            <a:ext cx="10972800" cy="3143250"/>
          </a:xfrm>
          <a:prstGeom prst="roundRect">
            <a:avLst>
              <a:gd name="adj" fmla="val 303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81050" y="1457325"/>
            <a:ext cx="304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Microsoft YaHei"/>
                <a:ea typeface="Microsoft YaHei"/>
              </a:rPr>
              <a:t>步骤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400550" y="14573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云端调用方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324600" y="1457325"/>
            <a:ext cx="43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Server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153400" y="1457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896475" y="14573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内网目标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81050" y="18002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085850" y="180975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业务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连接到代理端口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829050" y="18764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5638800" y="18764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220450" y="18097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81050" y="20669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85850" y="2076450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预留配额，生成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Pending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与一次性令牌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638800" y="2143125"/>
            <a:ext cx="1809750" cy="190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268075" y="2076450"/>
            <a:ext cx="3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81050" y="23336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85850" y="23431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Open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（走已认证的控制连接）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5638800" y="24098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7448550" y="24098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220450" y="23431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81050" y="26003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85850" y="26098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新建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到数据端口并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BindData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638800" y="2676525"/>
            <a:ext cx="1809750" cy="190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7448550" y="2676525"/>
            <a:ext cx="1809750" cy="190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220450" y="26098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←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81050" y="28670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85850" y="28765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原子消费令牌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→ BindAccepted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638800" y="29432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7448550" y="29432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20450" y="28765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81050" y="31337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85850" y="3143250"/>
            <a:ext cx="2257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拨号快照中指定的目标（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5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秒子期限）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7448550" y="32099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9258300" y="32099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220450" y="31432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85850" y="340995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TargetReady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（回到控制连接）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638800" y="3476625"/>
            <a:ext cx="1809750" cy="190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7448550" y="3476625"/>
            <a:ext cx="1809750" cy="190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220450" y="34099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←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81050" y="36671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85850" y="36766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Start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：校验未超时且会话仍有效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5638800" y="37433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7448550" y="37433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220450" y="36766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81050" y="3933825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85850" y="3943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双向复制原始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字节，不再分帧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29050" y="40100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5638800" y="40100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7448550" y="40100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9258300" y="40100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220450" y="39433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⇄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4457700"/>
            <a:ext cx="3619500" cy="1714500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19150" y="464820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20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秒是总预算，不是各步累加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19150" y="4962525"/>
            <a:ext cx="3200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期限从服务端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accept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那一刻开始计时，覆盖绑定、目标拨号到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Start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的全过程；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Agent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按收到的剩余预算自算截止时间。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19150" y="582930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0A5FA"/>
                </a:solidFill>
                <a:latin typeface="Microsoft YaHei"/>
                <a:ea typeface="Microsoft YaHei"/>
              </a:rPr>
              <a:t>服务端期限始终权威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476750" y="4457700"/>
            <a:ext cx="40005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686300" y="4648200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每一步都有独立失败语义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686300" y="4962525"/>
            <a:ext cx="3581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目标拒绝、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DNS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失败、隧道超时、容量已满各自分类计数，不会被揉成一个笼统的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连接失败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。一个目标出问题不影响其他通道。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686300" y="5829300"/>
            <a:ext cx="3581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可观测的前提是分类正确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724900" y="4457700"/>
            <a:ext cx="2857500" cy="171450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934450" y="4648200"/>
            <a:ext cx="243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失败即关闭，不重放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934450" y="4962525"/>
            <a:ext cx="2438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隧道断开就终止对应业务连接，不恢复原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TCP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、不重放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SQL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语句、不自动恢复事务。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934450" y="5829300"/>
            <a:ext cx="243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Microsoft YaHei"/>
                <a:ea typeface="Microsoft YaHei"/>
              </a:rPr>
              <a:t>事务结果由业务判断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11 / 22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8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2 · 线协议&lt;/Text&gt;&#10;            &lt;Box style={{ height: 8 }} /&gt;&#10;            &lt;Text style={{ fontSize: 34, fontWeight: 'bold', color: '#0F172A', lineHeight: 1.25 }}&gt;12 字节定长头，版本写死在第 5 个字节&lt;/Text&gt;&#10;        &lt;/Box&gt;&#10;        &lt;Box style={{ width: 4, height: 44, background: '#2563EB' }} /&gt;&#10;    &lt;/Box&gt;&#10;&#10;    &lt;Box style={{ height: 524, marginTop: 16, flexDirection: 'row', gap: 28 }}&gt;&#10;        &lt;Box style={{ width: 260, background: '#0F172A', borderRadius: 10, padding: '28px 24px', justifyContent: 'space-between' }}&gt;&#10;            &lt;Box&gt;&#10;                &lt;Text style={{ fontSize: 30, fontWeight: 'bold', color: '#FFFFFF', letterSpacing: 1 }}&gt;NTP1&lt;/Text&gt;&#10;                &lt;Box style={{ height: 10 }} /&gt;&#10;                &lt;Text style={{ fontSize: 15, color: '#60A5FA', letterSpacing: 1 }}&gt;version = 2&lt;/Text&gt;&#10;                &lt;Box style={{ height: 18 }} /&gt;&#10;                &lt;Box style={{ width: 44, height: 3, background: '#2563EB' }} /&gt;&#10;            &lt;/Box&gt;&#10;            &lt;Box&gt;&#10;                &lt;Text style={{ fontSize: 15, color: '#CBD5E1', lineHeight: 1.6 }}&gt;帧头越笨，出问题时越容易定位。没有协商、没有可选字段、没有隐式兼容。&lt;/Text&gt;&#10;                &lt;Box style={{ height: 16 }} /&gt;&#10;                &lt;Text style={{ fontSize: 13, color: '#64748B', lineHeight: 1.5 }}&gt;旧版本首帧直接被拒绝，不做静默降级。&lt;/Text&gt;&#10;            &lt;/Box&gt;&#10;        &lt;/Box&gt;&#10;&#10;        &lt;Box style={{ flex: 1 }}&gt;&#10;            &lt;Box style={{ height: 120, flexDirection: 'row', gap: 4 }}&gt;&#10;                &lt;Box style={{ width: 280, background: '#0F172A', borderRadius: 8, padding: '16px 14px', justifyContent: 'center' }}&gt;&#10;                    &lt;Text style={{ fontSize: 16, fontWeight: 'bold', color: '#FFFFFF', letterSpacing: 1 }}&gt;magic&lt;/Text&gt;&#10;                    &lt;Box style={{ height: 8 }} /&gt;&#10;                    &lt;Text style={{ fontSize: 13, color: '#60A5FA' }}&gt;4 字节 · ASCII &quot;NTP1&quot;&lt;/Text&gt;&#10;                &lt;/Box&gt;&#10;                &lt;Box style={{ width: 72, background: '#2563EB', borderRadius: 8, padding: '16px 8px', justifyContent: 'center', alignItems: 'center' }}&gt;&#10;                    &lt;Text style={{ fontSize: 15, fontWeight: 'bold', color: '#FFFFFF' }}&gt;ver&lt;/Text&gt;&#10;                    &lt;Text style={{ fontSize: 12, color: '#FFFFFF' }}&gt;1B&lt;/Text&gt;&#10;                &lt;/Box&gt;&#10;                &lt;Box style={{ width: 72, background: '#EEF2F8', borderRadius: 8, padding: '16px 8px', justifyContent: 'center', alignItems: 'center' }}&gt;&#10;                    &lt;Text style={{ fontSize: 15, fontWeight: 'bold', color: '#0F172A' }}&gt;type&lt;/Text&gt;&#10;                    &lt;Text style={{ fontSize: 12, color: '#64748B' }}&gt;1B&lt;/Text&gt;&#10;                &lt;/Box&gt;&#10;                &lt;Box style={{ width: 144, background: '#EEF2F8', borderRadius: 8, padding: '16px 10px', justifyContent: 'center', alignItems: 'center' }}&gt;&#10;                    &lt;Text style={{ fontSize: 15, fontWeight: 'bold', color: '#0F172A' }}&gt;flags&lt;/Text&gt;&#10;                    &lt;Text style={{ fontSize: 12, color: '#64748B' }}&gt;2B · 必须为 0&lt;/Text&gt;&#10;                &lt;/Box&gt;&#10;                &lt;Box style={{ width: 280, background: '#EEF2F8', borderRadius: 8, padding: '16px 14px', justifyContent: 'center' }}&gt;&#10;                    &lt;Text style={{ fontSize: 16, fontWeight: 'bold', color: '#0F172A', letterSpacing: 1 }}&gt;payloadLength&lt;/Text&gt;&#10;                    &lt;Box style={{ height: 8 }} /&gt;&#10;                    &lt;Text style={{ fontSize: 13, color: '#64748B' }}&gt;4 字节 · 无符号大端 · 不含头&lt;/Text&gt;&#10;                &lt;/Box&gt;&#10;            &lt;/Box&gt;&#10;&#10;            &lt;Box style={{ height: 148, marginTop: 12 }}&gt;&#10;                &lt;Box style={{ flexDirection: 'row', gap: 10 }}&gt;&#10;                    &lt;Box style={{ width: 134, background: '#EEF2F8', borderRadius: 6, padding: '8px 10px' }}&gt;&#10;                        &lt;Text style={{ fontSize: 13, fontWeight: 'bold', color: '#2563EB' }}&gt;1&lt;/Text&gt;&#10;                        &lt;Text style={{ fontSize: 12, color: '#0F172A' }}&gt;Register&lt;/Text&gt;&#10;                    &lt;/Box&gt;&#10;                    &lt;Box style={{ width: 134, background: '#EEF2F8', borderRadius: 6, padding: '8px 10px' }}&gt;&#10;                        &lt;Text style={{ fontSize: 13, fontWeight: 'bold', color: '#2563EB' }}&gt;2 / 3&lt;/Text&gt;&#10;                        &lt;Text style={{ fontSize: 12, color: '#0F172A' }}&gt;RegisterAccepted / ConfigAck&lt;/Text&gt;&#10;                    &lt;/Box&gt;&#10;                    &lt;Box style={{ width: 134, background: '#EEF2F8', borderRadius: 6, padding: '8px 10px' }}&gt;&#10;                        &lt;Text style={{ fontSize: 13, fontWeight: 'bold', color: '#2563EB' }}&gt;4 / 5 / 6&lt;/Text&gt;&#10;                        &lt;Text style={{ fontSize: 12, color: '#0F172A' }}&gt;Ready / Ping / Pong&lt;/Text&gt;&#10;                    &lt;/Box&gt;&#10;                    &lt;Box style={{ width: 134, background: '#EEF2F8', borderRadius: 6, padding: '8px 10px' }}&gt;&#10;                        &lt;Text style={{ fontSize: 13, fontWeight: 'bold', color: '#2563EB' }}&gt;7 / 8 / 9&lt;/Text&gt;&#10;                        &lt;Text style={{ fontSize: 12, color: '#0F172A' }}&gt;Open / OpenFailed / CancelOpen&lt;/Text&gt;&#10;                    &lt;/Box&gt;&#10;                    &lt;Box style={{ width: 134, background: '#EEF2F8', borderRadius: 6, padding: '8px 10px' }}&gt;&#10;                        &lt;Text style={{ fontSize: 13, fontWeight: 'bold', color: '#2563EB' }}&gt;10 / 11&lt;/Text&gt;&#10;                        &lt;Text style={{ fontSize: 12, color: '#0F172A' }}&gt;BindData / BindAccepted&lt;/Text&gt;&#10;                    &lt;/Box&gt;&#10;                    &lt;Box style={{ width: 134, background: '#EEF2F8', borderRadius: 6, padding: '8px 10px' }}&gt;&#10;                        &lt;Text style={{ fontSize: 13, fontWeight: 'bold', color: '#2563EB' }}&gt;12 / 22&lt;/Text&gt;&#10;                        &lt;Text style={{ fontSize: 12, color: '#0F172A' }}&gt;TargetReady / Start&lt;/Text&gt;&#10;                    &lt;/Box&gt;&#10;                &lt;/Box&gt;&#10;                &lt;Box style={{ height: 10 }} /&gt;&#10;                &lt;Box style={{ flexDirection: 'row', gap: 10 }}&gt;&#10;                    &lt;Box style={{ width: 134, background: '#FFFFFF', border: '1.5px solid #DCE3ED', borderRadius: 6, padding: '8px 10px' }}&gt;&#10;                        &lt;Text style={{ fontSize: 13, fontWeight: 'bold', color: '#2563EB' }}&gt;15&lt;/Text&gt;&#10;                        &lt;Text style={{ fontSize: 12, color: '#0F172A' }}&gt;ConfigUpdate（带版本号）&lt;/Text&gt;&#10;                    &lt;/Box&gt;&#10;                    &lt;Box style={{ width: 134, background: '#FFFFFF', border: '1.5px solid #DCE3ED', borderRadius: 6, padding: '8px 10px' }}&gt;&#10;                        &lt;Text style={{ fontSize: 13, fontWeight: 'bold', color: '#2563EB' }}&gt;16 / 17&lt;/Text&gt;&#10;                        &lt;Text style={{ fontSize: 12, color: '#0F172A' }}&gt;PeerOpenRequest / Granted&lt;/Text&gt;&#10;                    &lt;/Box&gt;&#10;                    &lt;Box style={{ width: 134, background: '#FFFFFF', border: '1.5px solid #DCE3ED', borderRadius: 6, padding: '8px 10px' }}&gt;&#10;                        &lt;Text style={{ fontSize: 13, fontWeight: 'bold', color: '#2563EB' }}&gt;18 / 19 / 20&lt;/Text&gt;&#10;                        &lt;Text style={{ fontSize: 12, color: '#0F172A' }}&gt;PeerOpen / PeerBindData / Accepted&lt;/Text&gt;&#10;                    &lt;/Box&gt;&#10;                    &lt;Box style={{ width: 134, background: '#FFFFFF', border: '1.5px solid #DCE3ED', borderRadius: 6, padding: '8px 10px' }}&gt;&#10;                        &lt;Text style={{ fontSize: 13, fontWeight: 'bold', color: '#2563EB' }}&gt;21 / 22&lt;/Text&gt;&#10;                        &lt;Text style={{ fontSize: 12, color: '#0F172A' }}&gt;PeerOpenRejected / MappingStatus&lt;/Text&gt;&#10;                    &lt;/Box&gt;&#10;                    &lt;Box style={{ width: 134, background: '#FFFFFF', border: '1.5px solid #DCE3ED', borderRadius: 6, padding: '8px 10px' }}&gt;&#10;                        &lt;Text style={{ fontSize: 13, fontWeight: 'bold', color: '#2563EB' }}&gt;32&lt;/Text&gt;&#10;                        &lt;Text style={{ fontSize: 12, color: '#0F172A' }}&gt;Data（仅互访密文中继）&lt;/Text&gt;&#10;                    &lt;/Box&gt;&#10;                    &lt;Box style={{ width: 134, background: '#FFFFFF', border: '1.5px solid #DCE3ED', borderRadius: 6, padding: '8px 10px' }}&gt;&#10;                        &lt;Text style={{ fontSize: 13, fontWeight: 'bold', color: '#2563EB' }}&gt;12 / 22&lt;/Text&gt;&#10;                        &lt;Text style={{ fontSize: 12, color: '#0F172A' }}&gt;Fin / Reset&lt;/Text&gt;&#10;                    &lt;/Box&gt;&#10;                &lt;/Box&gt;&#10;            &lt;/Box&gt;&#10;&#10;            &lt;Box style={{ height: 232, marginTop: 12, background: '#0F172A', borderRadius: 10, padding: '20px 24px', justifyContent: 'space-between' }}&gt;&#10;                &lt;Box&gt;&#10;                    &lt;Text style={{ fontSize: 19, fontWeight: 600, color: '#FFFFFF' }}&gt;长度先验证，再申请缓冲&lt;/Text&gt;&#10;                    &lt;Box style={{ height: 12 }} /&gt;&#10;                    &lt;Text style={{ fontSize: 15, color: '#CBD5E1', lineHeight: 1.65 }}&gt;读完帧头先校验长度再分配缓冲：控制 JSON ≤ 256 KiB、首帧 ≤ 8 KiB、DATA 载荷 1–32 KiB、FIN 载荷必须为 0。保留类型、非法 flags、无效状态下的帧、截断帧一律视为协议错误。连接关闭前不足一帧，不会被当成正常 FIN。&lt;/Text&gt;&#10;                    &lt;Box style={{ height: 14 }} /&gt;&#10;                    &lt;Text style={{ fontSize: 15, color: '#CBD5E1', lineHeight: 1.65 }}&gt;sessionId 与 connectionId 使用随机 UUID，令牌是 32 字节随机数的 Base64；注册、确认、绑定、启动这几类消息都只允许出现一次，重复消息不得重复建立连接或重复计数。&lt;/Text&gt;&#10;                &lt;/Box&gt;&#10;                &lt;Box style={{ flexDirection: 'row', gap: 14 }}&gt;&#10;                    &lt;Box style={{ background: '#1E293B', borderRadius: 6, padding: '7px 12px' }}&gt;&#10;                        &lt;Text style={{ fontSize: 13, color: '#60A5FA' }}&gt;不依赖 TCP 分包边界&lt;/Text&gt;&#10;                    &lt;/Box&gt;&#10;                    &lt;Box style={{ background: '#1E293B', borderRadius: 6, padding: '7px 12px' }}&gt;&#10;                        &lt;Text style={{ fontSize: 13, color: '#60A5FA' }}&gt;控制入口拒绝数据首帧&lt;/Text&gt;&#10;                            &lt;/Box&gt;&#10;                    &lt;Box style={{ background: '#1E293B', borderRadius: 6, padding: '7px 12px' }}&gt;&#10;                        &lt;Text style={{ fontSize: 13, color: '#60A5FA' }}&gt;数据入口拒绝 Register&lt;/Text&gt;&#10;                    &lt;/Box&gt;&#10;                &lt;/Box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12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575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02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线协议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57531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12 </a:t>
            </a: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字节定长头，版本写死在第</a:t>
            </a: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 5 </a:t>
            </a: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个字节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09600" y="1181100"/>
            <a:ext cx="2476500" cy="499110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2019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75">
                <a:solidFill>
                  <a:srgbClr val="FFFFFF"/>
                </a:solidFill>
                <a:latin typeface="Microsoft YaHei"/>
                <a:ea typeface="Microsoft YaHei"/>
              </a:rPr>
              <a:t>NTP1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" y="1885950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60A5FA"/>
                </a:solidFill>
                <a:latin typeface="Microsoft YaHei"/>
                <a:ea typeface="Microsoft YaHei"/>
              </a:rPr>
              <a:t>version = 2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38200" y="2228850"/>
            <a:ext cx="4191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38200" y="4476750"/>
            <a:ext cx="20193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帧头越笨，出问题时越容易定位。没有协商、没有可选字段、没有隐式兼容。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8200" y="5457825"/>
            <a:ext cx="20193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旧版本首帧直接被拒绝，不做静默降级。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352800" y="1181100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486150" y="154305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FFFFFF"/>
                </a:solidFill>
                <a:latin typeface="Microsoft YaHei"/>
                <a:ea typeface="Microsoft YaHei"/>
              </a:rPr>
              <a:t>magic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486150" y="180975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A5FA"/>
                </a:solidFill>
                <a:latin typeface="Microsoft YaHei"/>
                <a:ea typeface="Microsoft YaHei"/>
              </a:rPr>
              <a:t>4 </a:t>
            </a: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字节</a:t>
            </a:r>
            <a:r>
              <a:rPr lang="en-US" sz="975">
                <a:solidFill>
                  <a:srgbClr val="60A5FA"/>
                </a:solidFill>
                <a:latin typeface="Microsoft YaHei"/>
                <a:ea typeface="Microsoft YaHei"/>
              </a:rPr>
              <a:t> · ASCII "NTP1"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57900" y="1181100"/>
            <a:ext cx="685800" cy="114300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286500" y="1600200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ver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334125" y="17716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>1B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781800" y="1181100"/>
            <a:ext cx="685800" cy="114300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962775" y="160020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type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058025" y="17716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1B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7505700" y="1181100"/>
            <a:ext cx="1371600" cy="11430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020050" y="1600200"/>
            <a:ext cx="352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flags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848600" y="17716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2B ·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必须为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915400" y="1181100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048750" y="154305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0F172A"/>
                </a:solidFill>
                <a:latin typeface="Microsoft YaHei"/>
                <a:ea typeface="Microsoft YaHei"/>
              </a:rPr>
              <a:t>payloadLength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048750" y="180975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4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字节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无符号大端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不含头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352800" y="2438400"/>
            <a:ext cx="1276350" cy="581025"/>
          </a:xfrm>
          <a:prstGeom prst="roundRect">
            <a:avLst>
              <a:gd name="adj" fmla="val 9836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448050" y="251460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448050" y="2667000"/>
            <a:ext cx="1085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Register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724400" y="2438400"/>
            <a:ext cx="1276350" cy="581025"/>
          </a:xfrm>
          <a:prstGeom prst="roundRect">
            <a:avLst>
              <a:gd name="adj" fmla="val 9836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819650" y="251460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2 / 3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819650" y="2667000"/>
            <a:ext cx="10858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RegisterAccepted / ConfigAck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0" y="2438400"/>
            <a:ext cx="1276350" cy="581025"/>
          </a:xfrm>
          <a:prstGeom prst="roundRect">
            <a:avLst>
              <a:gd name="adj" fmla="val 9836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191250" y="251460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4 / 5 / 6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191250" y="2667000"/>
            <a:ext cx="10858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Ready / Ping / Pong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467600" y="2438400"/>
            <a:ext cx="1276350" cy="581025"/>
          </a:xfrm>
          <a:prstGeom prst="roundRect">
            <a:avLst>
              <a:gd name="adj" fmla="val 9836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562850" y="251460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7 / 8 / 9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562850" y="2667000"/>
            <a:ext cx="10858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Open / OpenFailed / CancelOpen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8839200" y="2438400"/>
            <a:ext cx="1276350" cy="581025"/>
          </a:xfrm>
          <a:prstGeom prst="roundRect">
            <a:avLst>
              <a:gd name="adj" fmla="val 9836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934450" y="251460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934450" y="2667000"/>
            <a:ext cx="10858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BindData / BindAccepted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10210800" y="2438400"/>
            <a:ext cx="1276350" cy="581025"/>
          </a:xfrm>
          <a:prstGeom prst="roundRect">
            <a:avLst>
              <a:gd name="adj" fmla="val 9836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306050" y="251460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12 / 22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306050" y="2667000"/>
            <a:ext cx="1085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TargetReady / Start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3352800" y="3114675"/>
            <a:ext cx="12763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448050" y="319087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448050" y="3343275"/>
            <a:ext cx="10858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ConfigUpdate</a:t>
            </a: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（带版本号）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724400" y="3114675"/>
            <a:ext cx="12763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819650" y="319087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16 / 17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819650" y="3343275"/>
            <a:ext cx="10858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PeerOpenRequest / Granted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0" y="3114675"/>
            <a:ext cx="12763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191250" y="319087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18 / 19 / 20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191250" y="3343275"/>
            <a:ext cx="10858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PeerOpen / PeerBindData / Accepted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7467600" y="3114675"/>
            <a:ext cx="12763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562850" y="319087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21 / 22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562850" y="3343275"/>
            <a:ext cx="10858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PeerOpenRejected / MappingStatus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8839200" y="3114675"/>
            <a:ext cx="12763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934450" y="319087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32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934450" y="3343275"/>
            <a:ext cx="10858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Data</a:t>
            </a: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（仅互访密文中继）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10210800" y="3114675"/>
            <a:ext cx="12763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306050" y="319087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12 / 22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306050" y="3343275"/>
            <a:ext cx="1085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Fin / Reset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3352800" y="3962400"/>
            <a:ext cx="8229600" cy="2209800"/>
          </a:xfrm>
          <a:prstGeom prst="roundRect">
            <a:avLst>
              <a:gd name="adj" fmla="val 431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3581400" y="4152900"/>
            <a:ext cx="777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长度先验证，再申请缓冲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581400" y="4486275"/>
            <a:ext cx="7772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读完帧头先校验长度再分配缓冲：控制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JSON ≤ 256 KiB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、首帧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≤ 8 KiB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DATA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载荷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1–32 KiB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FIN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载荷必须为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0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。保留类型、非法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flags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、无效状态下的帧、截断帧一律视为协议错误。连接关闭前不足一帧，不会被当成正常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FIN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581400" y="5191125"/>
            <a:ext cx="7772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sessionId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connectionId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使用随机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UUID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，令牌是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32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字节随机数的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Base64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；注册、确认、绑定、启动这几类消息都只允许出现一次，重复消息不得重复建立连接或重复计数。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581400" y="5762625"/>
            <a:ext cx="1400175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695700" y="582930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不依赖</a:t>
            </a:r>
            <a:r>
              <a:rPr lang="en-US" sz="975">
                <a:solidFill>
                  <a:srgbClr val="60A5FA"/>
                </a:solidFill>
                <a:latin typeface="Microsoft YaHei"/>
                <a:ea typeface="Microsoft YaHei"/>
              </a:rPr>
              <a:t> TCP </a:t>
            </a: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分包边界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114925" y="5762625"/>
            <a:ext cx="1466850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229225" y="58293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控制入口拒绝数据首帧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715125" y="5762625"/>
            <a:ext cx="1495425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829425" y="5829300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数据入口拒绝</a:t>
            </a:r>
            <a:r>
              <a:rPr lang="en-US" sz="975">
                <a:solidFill>
                  <a:srgbClr val="60A5FA"/>
                </a:solidFill>
                <a:latin typeface="Microsoft YaHei"/>
                <a:ea typeface="Microsoft YaHei"/>
              </a:rPr>
              <a:t> Register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 / 22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3" name="" descr="&lt;Slide style={{ width: '1280px', height: '720px', padding: 0, background: '#FFFFFF', flexDirection: 'row', position: 'relative' }}&gt;&#10;    &lt;Box style={{ position: 'absolute', top: 0, right: 0, width: 620, height: 720, background: 'linear-gradient(135deg,#EEF2F8 0%,#FFFFFF 100%)' }} /&gt;&#10;&#10;    &lt;Box style={{ width: 700, height: '100%', padding: '0 40px 0 64px', justifyContent: 'center', zIndex: 1 }}&gt;&#10;        &lt;Text style={{ fontSize: 88, fontWeight: 'bold', color: '#2563EB', lineHeight: 1 }}&gt;03&lt;/Text&gt;&#10;        &lt;Box style={{ height: 18 }} /&gt;&#10;        &lt;Text style={{ fontSize: 54, fontWeight: 'bold', color: '#0F172A', lineHeight: 1.15 }}&gt;安全模型&lt;br /&gt;谁被允许连&lt;br /&gt;服务端能看到什么&lt;/Text&gt;&#10;        &lt;Box style={{ height: 22 }} /&gt;&#10;        &lt;Box style={{ width: 72, height: 3, background: '#2563EB' }} /&gt;&#10;        &lt;Box style={{ height: 20 }} /&gt;&#10;        &lt;Text style={{ fontSize: 19, color: '#64748B', lineHeight: 1.55 }}&gt;凭据分三层，各管一段；信任范围能收多小就收多小。&lt;/Text&gt;&#10;    &lt;/Box&gt;&#10;&#10;    &lt;Box style={{ width: 580, height: '100%', alignItems: 'center', justifyContent: 'center', zIndex: 1 }}&gt;&#10;        &lt;svg width={520} height={430} viewBox='0 0 520 430'&gt;&#10;            &lt;rect x='42' y='30' width='436' height='370' rx='18' fill='none' stroke='#CBD5E1' strokeWidth='1.6' strokeDasharray='8 8' /&gt;&#10;            &lt;rect x='94' y='80' width='332' height='270' rx='14' fill='none' stroke='#0F172A' strokeWidth='1.8' /&gt;&#10;            &lt;rect x='148' y='128' width='224' height='174' rx='14' fill='#FFFFFF' stroke='#2563EB' strokeWidth='2' /&gt;&#10;&#10;            &lt;path d='M212 196 V160 A48 48 0 0 1 308 160 V196' fill='none' stroke='#0F172A' strokeWidth='7' /&gt;&#10;            &lt;circle cx='260' cy='232' r='20' fill='#2563EB' /&gt;&#10;            &lt;rect x='252' y='240' width='16' height='34' rx='8' fill='#2563EB' /&gt;&#10;&#10;            &lt;circle cx='76' cy='215' r='9' fill='#2563EB' /&gt;&#10;            &lt;rect x='52' y='234' width='48' height='7' rx='3' fill='#DCE3ED' /&gt;&#10;            &lt;circle cx='444' cy='215' r='9' fill='#2563EB' /&gt;&#10;            &lt;rect x='420' y='234' width='48' height='7' rx='3' fill='#DCE3ED' /&gt;&#10;            &lt;circle cx='260' cy='62' r='9' fill='#2563EB' /&gt;&#10;            &lt;rect x='236' y='374' width='48' height='7' rx='3' fill='#DCE3ED' /&gt;&#10;        &lt;/svg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EEF2F8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56769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2571750"/>
            <a:ext cx="5676900" cy="2133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安全模型</a:t>
            </a:r>
            <a:endParaRPr/>
          </a:p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谁被允许连</a:t>
            </a:r>
            <a:endParaRPr/>
          </a:p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服务端能看到什么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4914900"/>
            <a:ext cx="6858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5133975"/>
            <a:ext cx="567690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凭据分三层，各管一段；信任范围能收多小就收多小。</a:t>
            </a:r>
            <a:endParaRPr/>
          </a:p>
        </p:txBody>
      </p:sp>
      <p:pic>
        <p:nvPicPr>
          <p:cNvPr id="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0" y="1381125"/>
            <a:ext cx="4953000" cy="409575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01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3 · 凭据模型&lt;/Text&gt;&#10;            &lt;Box style={{ height: 8 }} /&gt;&#10;            &lt;Text style={{ fontSize: 34, fontWeight: 'bold', color: '#0F172A', lineHeight: 1.25 }}&gt;三层凭据，各管一段，互不复用&lt;/Text&gt;&#10;        &lt;/Box&gt;&#10;        &lt;Box style={{ width: 4, height: 44, background: '#2563EB' }} /&gt;&#10;    &lt;/Box&gt;&#10;&#10;    &lt;Box style={{ height: 524, marginTop: 16, flexDirection: 'row', gap: 26 }}&gt;&#10;        &lt;Box style={{ width: 370, background: '#FFFFFF', border: '1.5px solid #DCE3ED', borderRadius: 10, padding: '26px 24px', justifyContent: 'space-between' }}&gt;&#10;            &lt;Box&gt;&#10;                &lt;Box style={{ flexDirection: 'row', alignItems: 'flex-end', gap: 6 }}&gt;&#10;                    &lt;Text style={{ fontSize: 88, fontWeight: 'bold', color: '#2563EB', lineHeight: 1 }}&gt;32&lt;/Text&gt;&#10;                    &lt;Text style={{ fontSize: 20, fontWeight: 600, color: '#64748B' }}&gt;字节&lt;/Text&gt;&#10;                &lt;/Box&gt;&#10;                &lt;Box style={{ height: 18 }} /&gt;&#10;                &lt;Text style={{ fontSize: 21, fontWeight: 600, color: '#0F172A' }}&gt;客户端密钥&lt;/Text&gt;&#10;                &lt;Box style={{ height: 12 }} /&gt;&#10;                &lt;Text style={{ fontSize: 15, color: '#64748B', lineHeight: 1.65 }}&gt;每个客户端一把独立密钥，必须是密码学随机数生成的 ≥ 32 字节，配置检查会拒绝占位值和人工口令。比较使用固定时间算法，密钥不进日志、不进匿名接口、不进状态页。&lt;/Text&gt;&#10;            &lt;/Box&gt;&#10;            &lt;Box&gt;&#10;                &lt;Box style={{ width: 40, height: 3, background: '#2563EB' }} /&gt;&#10;                &lt;Box style={{ height: 12 }} /&gt;&#10;                &lt;Text style={{ fontSize: 13, color: '#2563EB', fontWeight: 600 }}&gt;管的是&quot;这个客户端是谁&quot;&lt;/Text&gt;&#10;            &lt;/Box&gt;&#10;        &lt;/Box&gt;&#10;&#10;        &lt;Box style={{ width: 400, background: '#0F172A', borderRadius: 10, padding: '26px 24px', justifyContent: 'space-between' }}&gt;&#10;            &lt;Box&gt;&#10;                &lt;Box style={{ flexDirection: 'row', alignItems: 'flex-end', gap: 6 }}&gt;&#10;                    &lt;Text style={{ fontSize: 96, fontWeight: 'bold', color: '#FFFFFF', lineHeight: 1 }}&gt;1&lt;/Text&gt;&#10;                    &lt;Text style={{ fontSize: 20, fontWeight: 600, color: '#60A5FA' }}&gt;次&lt;/Text&gt;&#10;                &lt;/Box&gt;&#10;                &lt;Box style={{ height: 18 }} /&gt;&#10;                &lt;Text style={{ fontSize: 21, fontWeight: 600, color: '#FFFFFF' }}&gt;一次性绑定令牌&lt;/Text&gt;&#10;                &lt;Box style={{ height: 12 }} /&gt;&#10;                &lt;Text style={{ fontSize: 15, color: '#CBD5E1', lineHeight: 1.65 }}&gt;每条业务连接生成一枚 32 字节随机令牌，随 Open 下发，Agent 拿它去数据端口做 BindData。令牌通过 CAS 从 AwaitingBind 变为 Bound 并立即清除哈希——重复、过期、跨会话、角色错置全部拒绝，失败后不可恢复。&lt;/Text&gt;&#10;            &lt;/Box&gt;&#10;            &lt;Box&gt;&#10;                &lt;Box style={{ width: 40, height: 3, background: '#2563EB' }} /&gt;&#10;                &lt;Box style={{ height: 12 }} /&gt;&#10;                &lt;Text style={{ fontSize: 13, color: '#60A5FA', fontWeight: 600 }}&gt;管的是&quot;这条连接是不是刚被授权的&quot;&lt;/Text&gt;&#10;            &lt;/Box&gt;&#10;        &lt;/Box&gt;&#10;&#10;        &lt;Box style={{ width: 330, background: '#EEF2F8', borderRadius: 10, padding: '26px 24px', justifyContent: 'space-between' }}&gt;&#10;            &lt;Box&gt;&#10;                &lt;Box style={{ flexDirection: 'row', alignItems: 'flex-end', gap: 6 }}&gt;&#10;                    &lt;Text style={{ fontSize: 88, fontWeight: 'bold', color: '#0F172A', lineHeight: 1 }}&gt;2&lt;/Text&gt;&#10;                    &lt;Text style={{ fontSize: 20, fontWeight: 600, color: '#64748B' }}&gt;道关&lt;/Text&gt;&#10;                &lt;/Box&gt;&#10;                &lt;Box style={{ height: 18 }} /&gt;&#10;                &lt;Text style={{ fontSize: 21, fontWeight: 600, color: '#0F172A' }}&gt;互访授权&lt;/Text&gt;&#10;                &lt;Box style={{ height: 12 }} /&gt;&#10;                &lt;Text style={{ fontSize: 15, color: '#64748B', lineHeight: 1.65 }}&gt;访问方先校验被访问方证书指纹（首次认证后固定到客户端，变化不自动覆盖）；随后被访问方发出每连接 32 字节随机挑战，访问方在 TLS 内返回带域分隔的 HMAC-SHA256 证明。&lt;/Text&gt;&#10;            &lt;/Box&gt;&#10;            &lt;Box&gt;&#10;                &lt;Box style={{ width: 40, height: 3, background: '#2563EB' }} /&gt;&#10;                &lt;Box style={{ height: 12 }} /&gt;&#10;                &lt;Text style={{ fontSize: 13, color: '#64748B', fontWeight: 600 }}&gt;管的是&quot;凭什么访问它&quot;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14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03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凭据模型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45339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三层凭据，各管一段，互不复用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1181100"/>
            <a:ext cx="3524250" cy="49911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1428750"/>
            <a:ext cx="10382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563EB"/>
                </a:solidFill>
                <a:latin typeface="Microsoft YaHei"/>
                <a:ea typeface="Microsoft YaHei"/>
              </a:rPr>
              <a:t>32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933575" y="22098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4748B"/>
                </a:solidFill>
                <a:latin typeface="Microsoft YaHei"/>
                <a:ea typeface="Microsoft YaHei"/>
              </a:rPr>
              <a:t>字节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38200" y="2609850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客户端密钥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2971800"/>
            <a:ext cx="306705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每个客户端一把独立密钥，必须是密码学随机数生成的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≥ 32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字节，配置检查会拒绝占位值和人工口令。比较使用固定时间算法，密钥不进日志、不进匿名接口、不进状态页。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838200" y="5629275"/>
            <a:ext cx="3810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8200" y="5772150"/>
            <a:ext cx="306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管的是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这个客户端是谁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4381500" y="1181100"/>
            <a:ext cx="3810000" cy="49911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610100" y="1428750"/>
            <a:ext cx="57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238750" y="23050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0A5FA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610100" y="2705100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一次性绑定令牌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610100" y="3067050"/>
            <a:ext cx="3352800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每条业务连接生成一枚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32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字节随机令牌，随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Open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下发，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Agent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拿它去数据端口做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BindData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。令牌通过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CAS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AwaitingBind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变为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Bound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并立即清除哈希——重复、过期、跨会话、角色错置全部拒绝，失败后不可恢复。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610100" y="5629275"/>
            <a:ext cx="3810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610100" y="5772150"/>
            <a:ext cx="335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0A5FA"/>
                </a:solidFill>
                <a:latin typeface="Microsoft YaHei"/>
                <a:ea typeface="Microsoft YaHei"/>
              </a:rPr>
              <a:t>管的是</a:t>
            </a:r>
            <a:r>
              <a:rPr lang="en-US" sz="975" b="1">
                <a:solidFill>
                  <a:srgbClr val="60A5FA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60A5FA"/>
                </a:solidFill>
                <a:latin typeface="Microsoft YaHei"/>
                <a:ea typeface="Microsoft YaHei"/>
              </a:rPr>
              <a:t>这条连接是不是刚被授权的</a:t>
            </a:r>
            <a:r>
              <a:rPr lang="en-US" sz="975" b="1">
                <a:solidFill>
                  <a:srgbClr val="60A5F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439150" y="1181100"/>
            <a:ext cx="3143250" cy="4991100"/>
          </a:xfrm>
          <a:prstGeom prst="roundRect">
            <a:avLst>
              <a:gd name="adj" fmla="val 303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667750" y="1428750"/>
            <a:ext cx="52387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0F172A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248775" y="22098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4748B"/>
                </a:solidFill>
                <a:latin typeface="Microsoft YaHei"/>
                <a:ea typeface="Microsoft YaHei"/>
              </a:rPr>
              <a:t>道关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667750" y="2609850"/>
            <a:ext cx="2686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互访授权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667750" y="2971800"/>
            <a:ext cx="2686050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访问方先校验被访问方证书指纹（首次认证后固定到客户端，变化不自动覆盖）；随后被访问方发出每连接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32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字节随机挑战，访问方在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TLS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内返回带域分隔的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HMAC-SHA256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证明。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667750" y="5629275"/>
            <a:ext cx="3810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667750" y="5772150"/>
            <a:ext cx="2686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4748B"/>
                </a:solidFill>
                <a:latin typeface="Microsoft YaHei"/>
                <a:ea typeface="Microsoft YaHei"/>
              </a:rPr>
              <a:t>管的是</a:t>
            </a:r>
            <a:r>
              <a:rPr lang="en-US" sz="975" b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64748B"/>
                </a:solidFill>
                <a:latin typeface="Microsoft YaHei"/>
                <a:ea typeface="Microsoft YaHei"/>
              </a:rPr>
              <a:t>凭什么访问它</a:t>
            </a:r>
            <a:r>
              <a:rPr lang="en-US" sz="975" b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14 / 22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0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3 · 客户端安全互访&lt;/Text&gt;&#10;            &lt;Box style={{ height: 8 }} /&gt;&#10;            &lt;Text style={{ fontSize: 34, fontWeight: 'bold', color: '#0F172A', lineHeight: 1.25 }}&gt;两台内网机器互访，服务端全程只见密文&lt;/Text&gt;&#10;        &lt;/Box&gt;&#10;        &lt;Box style={{ width: 4, height: 44, background: '#2563EB' }} /&gt;&#10;    &lt;/Box&gt;&#10;&#10;    &lt;Box style={{ height: 524, marginTop: 16, flexDirection: 'row', gap: 28 }}&gt;&#10;        &lt;Box style={{ width: 680, background: '#EEF2F8', borderRadius: 10, padding: '18px 20px' }}&gt;&#10;            &lt;Box style={{ height: 84, background: '#FFFFFF', border: '1.5px solid #DCE3ED', borderRadius: 8, padding: '12px 16px', flexDirection: 'row', alignItems: 'center', gap: 14 }}&gt;&#10;                &lt;Box style={{ width: 190 }}&gt;&#10;                    &lt;Text style={{ fontSize: 16, fontWeight: 600, color: '#0F172A' }}&gt;访问方本机应用&lt;/Text&gt;&#10;                    &lt;Box style={{ height: 4 }} /&gt;&#10;                    &lt;Text style={{ fontSize: 13, color: '#64748B' }}&gt;sqlcmd / 业务程序&lt;/Text&gt;&#10;                &lt;/Box&gt;&#10;                &lt;Box style={{ flex: 1, alignItems: 'center' }}&gt;&#10;                    &lt;Box style={{ height: 2, width: '100%', background: '#2563EB' }} /&gt;&#10;                    &lt;Text style={{ fontSize: 13, color: '#2563EB', fontWeight: 600 }}&gt;→ 127.0.0.1:端口&lt;/Text&gt;&#10;                &lt;/Box&gt;&#10;                &lt;Box style={{ width: 200, background: '#EEF2F8', borderRadius: 6, padding: '10px 12px' }}&gt;&#10;                    &lt;Text style={{ fontSize: 16, fontWeight: 600, color: '#0F172A' }}&gt;访问方 Agent&lt;/Text&gt;&#10;                    &lt;Box style={{ height: 4 }} /&gt;&#10;                    &lt;Text style={{ fontSize: 13, color: '#64748B' }}&gt;端口由 Agent 自选并上报&lt;/Text&gt;&#10;                &lt;/Box&gt;&#10;            &lt;/Box&gt;&#10;&#10;            &lt;Box style={{ height: 22, alignItems: 'center' }}&gt;&#10;                &lt;Text style={{ fontSize: 14, color: '#94A3B8' }}&gt;↓&lt;/Text&gt;&#10;            &lt;/Box&gt;&#10;&#10;            &lt;Box style={{ height: 158, background: '#0F172A', borderRadius: 8, padding: '14px 16px', justifyContent: 'space-between' }}&gt;&#10;                &lt;Box style={{ flexDirection: 'row', alignItems: 'center' }}&gt;&#10;                    &lt;Box style={{ width: 150 }}&gt;&#10;                        &lt;Text style={{ fontSize: 15, fontWeight: 600, color: '#FFFFFF' }}&gt;访问方 Agent&lt;/Text&gt;&#10;                        &lt;Box style={{ height: 4 }} /&gt;&#10;                        &lt;Text style={{ fontSize: 12, color: '#60A5FA' }}&gt;内层 TLS 起点&lt;/Text&gt;&#10;                    &lt;/Box&gt;&#10;                    &lt;Box style={{ flex: 1, alignItems: 'center' }}&gt;&#10;                        &lt;Box style={{ width: '100%', height: 3, background: '#2563EB' }} /&gt;&#10;                        &lt;Box style={{ height: 5 }} /&gt;&#10;                        &lt;Text style={{ fontSize: 12, color: '#CBD5E1' }}&gt;TLS 1.2+ · 证书指纹固定&lt;/Text&gt;&#10;                    &lt;/Box&gt;&#10;                    &lt;Box style={{ width: 130, alignItems: 'center' }}&gt;&#10;                        &lt;Text style={{ fontSize: 15, fontWeight: 'bold', color: '#FFFFFF' }}&gt;Server&lt;/Text&gt;&#10;                        &lt;Box style={{ height: 4 }} /&gt;&#10;                        &lt;Text style={{ fontSize: 12, color: '#94A3B8' }}&gt;只转发 DATA&lt;/Text&gt;&#10;                    &lt;/Box&gt;&#10;                    &lt;Box style={{ flex: 1, alignItems: 'center' }}&gt;&#10;                        &lt;Box style={{ width: '100%', height: 3, background: '#2563EB' }} /&gt;&#10;                        &lt;Box style={{ height: 5 }} /&gt;&#10;                        &lt;Text style={{ fontSize: 12, color: '#CBD5E1' }}&gt;随机挑战 + HMAC 证明&lt;/Text&gt;&#10;                    &lt;/Box&gt;&#10;                    &lt;Box style={{ width: 150, alignItems: 'flex-end' }}&gt;&#10;                        &lt;Text style={{ fontSize: 15, fontWeight: 600, color: '#FFFFFF' }}&gt;被访问 Agent&lt;/Text&gt;&#10;                        &lt;Box style={{ height: 4 }} /&gt;&#10;                        &lt;Text style={{ fontSize: 12, color: '#60A5FA' }}&gt;内层 TLS 终点&lt;/Text&gt;&#10;                    &lt;/Box&gt;&#10;                &lt;/Box&gt;&#10;                &lt;Box style={{ background: '#1E293B', borderRadius: 6, padding: '10px 14px', flexDirection: 'row', alignItems: 'center', justifyContent: 'space-between' }}&gt;&#10;                    &lt;Text style={{ fontSize: 13, color: '#60A5FA' }}&gt;服务端可见：路由元数据、连接时间、密文字节量&lt;/Text&gt;&#10;                    &lt;Text style={{ fontSize: 13, color: '#FFFFFF', fontWeight: 600 }}&gt;服务端不可见：明文业务载荷&lt;/Text&gt;&#10;                &lt;/Box&gt;&#10;            &lt;/Box&gt;&#10;&#10;            &lt;Box style={{ height: 22, alignItems: 'center' }}&gt;&#10;                &lt;Text style={{ fontSize: 14, color: '#94A3B8' }}&gt;↓ 证明校验通过之后才允许&lt;/Text&gt;&#10;            &lt;/Box&gt;&#10;&#10;            &lt;Box style={{ height: 84, background: '#FFFFFF', border: '1.5px solid #DCE3ED', borderRadius: 8, padding: '12px 16px', flexDirection: 'row', alignItems: 'center', gap: 14 }}&gt;&#10;                &lt;Box style={{ width: 190 }}&gt;&#10;                    &lt;Text style={{ fontSize: 16, fontWeight: 600, color: '#0F172A' }}&gt;被访问 Agent&lt;/Text&gt;&#10;                    &lt;Box style={{ height: 4 }} /&gt;&#10;                    &lt;Text style={{ fontSize: 13, color: '#64748B' }}&gt;校验密钥与目标通道&lt;/Text&gt;&#10;                &lt;/Box&gt;&#10;                &lt;Box style={{ flex: 1, alignItems: 'center' }}&gt;&#10;                    &lt;Box style={{ height: 2, width: '100%', background: '#2563EB' }} /&gt;&#10;                    &lt;Text style={{ fontSize: 13, color: '#2563EB', fontWeight: 600 }}&gt;→ 才拨号业务目标&lt;/Text&gt;&#10;                &lt;/Box&gt;&#10;                &lt;Box style={{ width: 200, background: '#EEF2F8', borderRadius: 6, padding: '10px 12px' }}&gt;&#10;                    &lt;Text style={{ fontSize: 16, fontWeight: 600, color: '#0F172A' }}&gt;内网目标服务&lt;/Text&gt;&#10;                    &lt;Box style={{ height: 4 }} /&gt;&#10;                    &lt;Text style={{ fontSize: 13, color: '#64748B' }}&gt;1433 / 5432 / 任意 TCP&lt;/Text&gt;&#10;                &lt;/Box&gt;&#10;            &lt;/Box&gt;&#10;&#10;            &lt;Box style={{ height: 104, marginTop: 12, background: '#FFFFFF', borderRadius: 8, padding: '12px 16px', justifyContent: 'space-between' }}&gt;&#10;                &lt;Text style={{ fontSize: 15, color: '#64748B', lineHeight: 1.6 }}&gt;授权顺序不能颠倒：任何一环失败，被访问方都不会对目标发起 TCP Connect，更不会传递一个字节的业务数据。错误时也不会降级为明文传输。&lt;/Text&gt;&#10;                &lt;Box style={{ flexDirection: 'row', gap: 10 }}&gt;&#10;                    &lt;Box style={{ background: '#EEF2F8', borderRadius: 6, padding: '6px 10px' }}&gt;&#10;                        &lt;Text style={{ fontSize: 12, color: '#0F172A' }}&gt;证书指纹固定&lt;/Text&gt;&#10;                    &lt;/Box&gt;&#10;                    &lt;Box style={{ background: '#EEF2F8', borderRadius: 6, padding: '6px 10px' }}&gt;&#10;                        &lt;Text style={{ fontSize: 12, color: '#0F172A' }}&gt;32 字节随机挑战&lt;/Text&gt;&#10;                    &lt;/Box&gt;&#10;                    &lt;Box style={{ background: '#EEF2F8', borderRadius: 6, padding: '6px 10px' }}&gt;&#10;                        &lt;Text style={{ fontSize: 12, color: '#0F172A' }}&gt;HMAC-SHA256 证明&lt;/Text&gt;&#10;                    &lt;/Box&gt;&#10;                    &lt;Box style={{ background: '#EEF2F8', borderRadius: 6, padding: '6px 10px' }}&gt;&#10;                        &lt;Text style={{ fontSize: 12, color: '#0F172A' }}&gt;固定时间比较&lt;/Text&gt;&#10;                    &lt;/Box&gt;&#10;                &lt;/Box&gt;&#10;            &lt;/Box&gt;&#10;        &lt;/Box&gt;&#10;&#10;        &lt;Box style={{ width: 444, justifyContent: 'space-between' }}&gt;&#10;            &lt;Box style={{ background: '#0F172A', borderRadius: 10, padding: '26px 24px' }}&gt;&#10;                &lt;Text style={{ fontSize: 13, fontWeight: 600, color: '#60A5FA', letterSpacing: 2 }}&gt;为什么不一样&lt;/Text&gt;&#10;                &lt;Box style={{ height: 14 }} /&gt;&#10;                &lt;Text style={{ fontSize: 28, fontWeight: 'bold', color: '#FFFFFF', lineHeight: 1.3 }}&gt;服务端是中继者&lt;br /&gt;不是解密者&lt;/Text&gt;&#10;                &lt;Box style={{ height: 18 }} /&gt;&#10;                &lt;Text style={{ fontSize: 15, color: '#CBD5E1', lineHeight: 1.65 }}&gt;普通内网穿透通常是&quot;服务端解密再转发&quot;，业务数据对服务端完全可见。RelayLink 的互访路径把 TLS 建在两端 Agent 之间，服务端只配对并转发密文帧。&lt;/Text&gt;&#10;            &lt;/Box&gt;&#10;&#10;            &lt;Box style={{ marginTop: 16 }}&gt;&#10;                &lt;Box style={{ flexDirection: 'row', gap: 12, alignItems: 'flex-start' }}&gt;&#10;                    &lt;Text style={{ fontSize: 15, fontWeight: 'bold', color: '#2563EB', width: 22 }}&gt;1&lt;/Text&gt;&#10;                    &lt;Text style={{ flex: 1, fontSize: 15, color: '#64748B', lineHeight: 1.6 }}&gt;入口只监听访问方本机 loopback，被访问通道不再开放云端代理端口。&lt;/Text&gt;&#10;                &lt;/Box&gt;&#10;                &lt;Box style={{ height: 14 }} /&gt;&#10;                &lt;Box style={{ flexDirection: 'row', gap: 12, alignItems: 'flex-start' }}&gt;&#10;                    &lt;Text style={{ fontSize: 15, fontWeight: 'bold', color: '#2563EB', width: 22 }}&gt;2&lt;/Text&gt;&#10;                    &lt;Text style={{ flex: 1, fontSize: 15, color: '#64748B', lineHeight: 1.6 }}&gt;映射与目标授权全在服务端下发，Agent 本地不落地访问密钥，状态页也不展示密钥。&lt;/Text&gt;&#10;                &lt;/Box&gt;&#10;                &lt;Box style={{ height: 14 }} /&gt;&#10;                &lt;Box style={{ flexDirection: 'row', gap: 12, alignItems: 'flex-start' }}&gt;&#10;                    &lt;Text style={{ fontSize: 15, fontWeight: 'bold', color: '#2563EB', width: 22 }}&gt;3&lt;/Text&gt;&#10;                    &lt;Text style={{ flex: 1, fontSize: 15, color: '#64748B', lineHeight: 1.6 }}&gt;两端都只主动出网；任一控制会话断开，相关互访连接立即释放。&lt;/Text&gt;&#10;                &lt;/Box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15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582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03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客户端安全互访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58293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两台内网机器互访，服务端全程只见密文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609600" y="1181100"/>
            <a:ext cx="6477000" cy="4991100"/>
          </a:xfrm>
          <a:prstGeom prst="roundRect">
            <a:avLst>
              <a:gd name="adj" fmla="val 1908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800100" y="1352550"/>
            <a:ext cx="6096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52500" y="15621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访问方本机应用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952500" y="17907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sqlcmd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业务程序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2895600" y="166687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295650" y="1685925"/>
            <a:ext cx="100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→ 127.0.0.1: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端口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4838700" y="146685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953000" y="15621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访问方</a:t>
            </a: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953000" y="179070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端口由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自选并上报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819525" y="215265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4A3B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800100" y="2362200"/>
            <a:ext cx="6096000" cy="1504950"/>
          </a:xfrm>
          <a:prstGeom prst="roundRect">
            <a:avLst>
              <a:gd name="adj" fmla="val 5063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52500" y="24955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访问方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52500" y="2705100"/>
            <a:ext cx="1428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内层</a:t>
            </a:r>
            <a:r>
              <a:rPr lang="en-US" sz="900">
                <a:solidFill>
                  <a:srgbClr val="60A5FA"/>
                </a:solidFill>
                <a:latin typeface="Microsoft YaHei"/>
                <a:ea typeface="Microsoft YaHei"/>
              </a:rPr>
              <a:t> TLS </a:t>
            </a: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2381250" y="2495550"/>
            <a:ext cx="847725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381250" y="2571750"/>
            <a:ext cx="84772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TLS 1.2+ 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证书指纹固定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46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Server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514725" y="2705100"/>
            <a:ext cx="676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只转发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DATA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4467225" y="2495550"/>
            <a:ext cx="847725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4467225" y="2571750"/>
            <a:ext cx="84772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随机挑战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+ HMAC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证明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829300" y="24955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被访问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19800" y="2705100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内层</a:t>
            </a:r>
            <a:r>
              <a:rPr lang="en-US" sz="900">
                <a:solidFill>
                  <a:srgbClr val="60A5FA"/>
                </a:solidFill>
                <a:latin typeface="Microsoft YaHei"/>
                <a:ea typeface="Microsoft YaHei"/>
              </a:rPr>
              <a:t> TLS </a:t>
            </a: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终点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952500" y="3390900"/>
            <a:ext cx="5791200" cy="3429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085850" y="3486150"/>
            <a:ext cx="2724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服务端可见：路由元数据、连接时间、密文字节量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000625" y="3486150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服务端不可见：明文业务载荷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057525" y="386715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↓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证明校验通过之后才允许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800100" y="4076700"/>
            <a:ext cx="6096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52500" y="42862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被访问</a:t>
            </a: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52500" y="45148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校验密钥与目标通道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2895600" y="4391025"/>
            <a:ext cx="1809750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286125" y="4410075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→ 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才拨号业务目标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4838700" y="41910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953000" y="428625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内网目标服务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953000" y="451485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1433 / 5432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任意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TCP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800100" y="4991100"/>
            <a:ext cx="60960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52500" y="5105400"/>
            <a:ext cx="5791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授权顺序不能颠倒：任何一环失败，被访问方都不会对目标发起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TCP Connect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，更不会传递一个字节的业务数据。错误时也不会降级为明文传输。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952500" y="5657850"/>
            <a:ext cx="876300" cy="257175"/>
          </a:xfrm>
          <a:prstGeom prst="roundRect">
            <a:avLst>
              <a:gd name="adj" fmla="val 22222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047750" y="5715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证书指纹固定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1924050" y="5657850"/>
            <a:ext cx="1047750" cy="257175"/>
          </a:xfrm>
          <a:prstGeom prst="roundRect">
            <a:avLst>
              <a:gd name="adj" fmla="val 22222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019300" y="5715000"/>
            <a:ext cx="857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32 </a:t>
            </a: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字节随机挑战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067050" y="5657850"/>
            <a:ext cx="1295400" cy="257175"/>
          </a:xfrm>
          <a:prstGeom prst="roundRect">
            <a:avLst>
              <a:gd name="adj" fmla="val 22222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162300" y="571500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HMAC-SHA256 </a:t>
            </a: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证明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4457700" y="5657850"/>
            <a:ext cx="876300" cy="257175"/>
          </a:xfrm>
          <a:prstGeom prst="roundRect">
            <a:avLst>
              <a:gd name="adj" fmla="val 22222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552950" y="5715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固定时间比较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7353300" y="1181100"/>
            <a:ext cx="4229100" cy="2647950"/>
          </a:xfrm>
          <a:prstGeom prst="roundRect">
            <a:avLst>
              <a:gd name="adj" fmla="val 359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581900" y="1428750"/>
            <a:ext cx="3771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60A5FA"/>
                </a:solidFill>
                <a:latin typeface="Microsoft YaHei"/>
                <a:ea typeface="Microsoft YaHei"/>
              </a:rPr>
              <a:t>为什么不一样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581900" y="1714500"/>
            <a:ext cx="3771900" cy="8382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服务端是中继者</a:t>
            </a:r>
            <a:endParaRPr/>
          </a:p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不是解密者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581900" y="2724150"/>
            <a:ext cx="37719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普通内网穿透通常是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服务端解密再转发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，业务数据对服务端完全可见。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RelayLink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的互访路径把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TLS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建在两端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Agent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之间，服务端只配对并转发密文帧。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353300" y="42481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677150" y="4248150"/>
            <a:ext cx="3905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入口只监听访问方本机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loopback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，被访问通道不再开放云端代理端口。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353300" y="49339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677150" y="4933950"/>
            <a:ext cx="3905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映射与目标授权全在服务端下发，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Agent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本地不落地访问密钥，状态页也不展示密钥。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353300" y="56197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677150" y="5619750"/>
            <a:ext cx="3905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两端都只主动出网；任一控制会话断开，相关互访连接立即释放。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15 / 22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91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3 · 生效与收敛&lt;/Text&gt;&#10;            &lt;Box style={{ height: 8 }} /&gt;&#10;            &lt;Text style={{ fontSize: 34, fontWeight: 'bold', color: '#0F172A', lineHeight: 1.25 }}&gt;安全边界必须能立刻生效，否则等于没有&lt;/Text&gt;&#10;        &lt;/Box&gt;&#10;        &lt;Box style={{ width: 4, height: 44, background: '#2563EB' }} /&gt;&#10;    &lt;/Box&gt;&#10;&#10;    &lt;Box style={{ height: 524, marginTop: 16, flexDirection: 'row', gap: 28 }}&gt;&#10;        &lt;Box style={{ width: 740 }}&gt;&#10;            &lt;Box style={{ height: 250, background: '#EEF2F8', borderRadius: 10, padding: '24px 26px', justifyContent: 'space-between' }}&gt;&#10;                &lt;Box&gt;&#10;                    &lt;Text style={{ fontSize: 22, fontWeight: 600, color: '#0F172A' }}&gt;配置一改，就撤销对应的连接&lt;/Text&gt;&#10;                    &lt;Box style={{ height: 12 }} /&gt;&#10;                    &lt;Text style={{ fontSize: 15, color: '#64748B', lineHeight: 1.65 }}&gt;通道的监听端口、目标端点、启用状态、访问映射发生真实变化时，只断开该通道（或该映射）的待建立与已建立连接；其他通道继续传输，不受影响。&lt;/Text&gt;&#10;                    &lt;Box style={{ height: 12 }} /&gt;&#10;                    &lt;Text style={{ fontSize: 15, color: '#64748B', lineHeight: 1.65 }}&gt;内容是&quot;按客户端 + 按通道/映射&quot;比对后判断的：相同内容重复保存不会中断任何连接，避免误伤正在跑的查询。&lt;/Text&gt;&#10;                &lt;/Box&gt;&#10;                &lt;Box style={{ flexDirection: 'row', gap: 12 }}&gt;&#10;                    &lt;Box style={{ background: '#FFFFFF', borderRadius: 6, padding: '8px 12px' }}&gt;&#10;                        &lt;Text style={{ fontSize: 13, color: '#0F172A' }}&gt;改端口 / 改目标 → 断开&lt;/Text&gt;&#10;                    &lt;/Box&gt;&#10;                    &lt;Box style={{ background: '#FFFFFF', borderRadius: 6, padding: '8px 12px' }}&gt;&#10;                        &lt;Text style={{ fontSize: 13, color: '#0F172A' }}&gt;禁用 / 删除 → 断开&lt;/Text&gt;&#10;                    &lt;/Box&gt;&#10;                    &lt;Box style={{ background: '#FFFFFF', borderRadius: 6, padding: '8px 12px' }}&gt;&#10;                        &lt;Text style={{ fontSize: 13, color: '#0F172A' }}&gt;原样保存 → 不断开&lt;/Text&gt;&#10;                    &lt;/Box&gt;&#10;                &lt;/Box&gt;&#10;            &lt;/Box&gt;&#10;&#10;            &lt;Box style={{ height: 262, marginTop: 12, background: '#0F172A', borderRadius: 10, padding: '24px 26px', justifyContent: 'space-between' }}&gt;&#10;                &lt;Box&gt;&#10;                    &lt;Text style={{ fontSize: 22, fontWeight: 600, color: '#FFFFFF' }}&gt;应用层安全组：按来源地址放行&lt;/Text&gt;&#10;                    &lt;Box style={{ height: 12 }} /&gt;&#10;                    &lt;Text style={{ fontSize: 15, color: '#CBD5E1', lineHeight: 1.65 }}&gt;每组至少包含一个 IPv4 / IPv6 单地址或 CIDR，匹配依据是服务端 TCP socket 的实际来源地址，不信任任何 HTTP 转发头；IPv4-mapped IPv6 会先归一化为 IPv4。&lt;/Text&gt;&#10;                    &lt;Box style={{ height: 12 }} /&gt;&#10;                    &lt;Text style={{ fontSize: 15, color: '#CBD5E1', lineHeight: 1.65 }}&gt;规则收紧后，不再匹配的存量连接会被立即撤销；解析失败、组不存在或地址族不匹配一律拒绝，不会把错误策略解释成&quot;全开放&quot;。&lt;/Text&gt;&#10;                &lt;/Box&gt;&#10;                &lt;Box style={{ flexDirection: 'row', gap: 12 }}&gt;&#10;                    &lt;Box style={{ background: '#1E293B', borderRadius: 6, padding: '8px 12px' }}&gt;&#10;                        &lt;Text style={{ fontSize: 13, color: '#60A5FA' }}&gt;不绑定 = 任意来源&lt;/Text&gt;&#10;                    &lt;/Box&gt;&#10;                    &lt;Box style={{ background: '#1E293B', borderRadius: 6, padding: '8px 12px' }}&gt;&#10;                        &lt;Text style={{ fontSize: 13, color: '#60A5FA' }}&gt;被引用时不可删除&lt;/Text&gt;&#10;                    &lt;/Box&gt;&#10;                    &lt;Box style={{ background: '#1E293B', borderRadius: 6, padding: '8px 12px' }}&gt;&#10;                        &lt;Text style={{ fontSize: 13, color: '#60A5FA' }}&gt;端到端通道不绑定&lt;/Text&gt;&#10;                    &lt;/Box&gt;&#10;                &lt;/Box&gt;&#10;            &lt;/Box&gt;&#10;        &lt;/Box&gt;&#10;&#10;        &lt;Box style={{ width: 384, border: '1.5px solid #DCE3ED', borderRadius: 10, padding: '26px 24px', justifyContent: 'space-between' }}&gt;&#10;            &lt;Box&gt;&#10;                &lt;Text style={{ fontSize: 13, fontWeight: 600, color: '#2563EB', letterSpacing: 2 }}&gt;容易误解的一点&lt;/Text&gt;&#10;                &lt;Box style={{ height: 14 }} /&gt;&#10;                &lt;Text style={{ fontSize: 24, fontWeight: 'bold', color: '#0F172A', lineHeight: 1.3 }}&gt;安全组&lt;br /&gt;不是加密&lt;/Text&gt;&#10;                &lt;Box style={{ height: 18 }} /&gt;&#10;                &lt;Text style={{ fontSize: 15, color: '#64748B', lineHeight: 1.65 }}&gt;它只回答&quot;这个来源能不能进&quot;，不提供任何机密性或完整性保护。普通数据通道上的字节仍是明文 TCP。&lt;/Text&gt;&#10;                &lt;Box style={{ height: 16 }} /&gt;&#10;                &lt;Text style={{ fontSize: 15, color: '#64748B', lineHeight: 1.65 }}&gt;真正的保密要靠两件事：业务自身的端到端 TLS（如 SQL TLS），或者把数据链路放在受信隔离网络上。&lt;/Text&gt;&#10;            &lt;/Box&gt;&#10;            &lt;Box&gt;&#10;                &lt;Box style={{ width: 44, height: 3, background: '#2563EB' }} /&gt;&#10;                &lt;Box style={{ height: 14 }} /&gt;&#10;                &lt;Text style={{ fontSize: 14, color: '#0F172A', lineHeight: 1.55, fontWeight: 600 }}&gt;云安全组 / 防火墙仍然是第一道边界，应用层安全组只是补充。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16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582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03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生效与收敛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58293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安全边界必须能立刻生效，否则等于没有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609600" y="1181100"/>
            <a:ext cx="7048500" cy="238125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57250" y="1409700"/>
            <a:ext cx="655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配置一改，就撤销对应的连接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57250" y="1781175"/>
            <a:ext cx="6553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通道的监听端口、目标端点、启用状态、访问映射发生真实变化时，只断开该通道（或该映射）的待建立与已建立连接；其他通道继续传输，不受影响。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57250" y="2466975"/>
            <a:ext cx="6553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内容是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按客户端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按通道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映射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比对后判断的：相同内容重复保存不会中断任何连接，避免误伤正在跑的查询。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57250" y="3038475"/>
            <a:ext cx="154305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971550" y="311467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改端口</a:t>
            </a:r>
            <a:r>
              <a:rPr lang="en-US" sz="975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改目标</a:t>
            </a:r>
            <a:r>
              <a:rPr lang="en-US" sz="975">
                <a:solidFill>
                  <a:srgbClr val="0F172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断开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2514600" y="3038475"/>
            <a:ext cx="12954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2628900" y="311467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禁用</a:t>
            </a:r>
            <a:r>
              <a:rPr lang="en-US" sz="975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删除</a:t>
            </a:r>
            <a:r>
              <a:rPr lang="en-US" sz="975">
                <a:solidFill>
                  <a:srgbClr val="0F172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断开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3924300" y="3038475"/>
            <a:ext cx="12954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038600" y="311467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原样保存</a:t>
            </a:r>
            <a:r>
              <a:rPr lang="en-US" sz="975">
                <a:solidFill>
                  <a:srgbClr val="0F172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不断开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09600" y="3676650"/>
            <a:ext cx="7048500" cy="2495550"/>
          </a:xfrm>
          <a:prstGeom prst="roundRect">
            <a:avLst>
              <a:gd name="adj" fmla="val 381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57250" y="3905250"/>
            <a:ext cx="655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应用层安全组：按来源地址放行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57250" y="4276725"/>
            <a:ext cx="6553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每组至少包含一个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IPv4 / IPv6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单地址或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CIDR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，匹配依据是服务端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TCP socket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的实际来源地址，不信任任何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HTTP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转发头；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IPv4-mapped IPv6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会先归一化为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IPv4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57250" y="4962525"/>
            <a:ext cx="6553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规则收紧后，不再匹配的存量连接会被立即撤销；解析失败、组不存在或地址族不匹配一律拒绝，不会把错误策略解释成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全开放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857250" y="5638800"/>
            <a:ext cx="1266825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971550" y="5715000"/>
            <a:ext cx="103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不绑定</a:t>
            </a:r>
            <a:r>
              <a:rPr lang="en-US" sz="975">
                <a:solidFill>
                  <a:srgbClr val="60A5FA"/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任意来源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2238375" y="5638800"/>
            <a:ext cx="1219200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2352675" y="571500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被引用时不可删除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3571875" y="5638800"/>
            <a:ext cx="1219200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686175" y="571500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0A5FA"/>
                </a:solidFill>
                <a:latin typeface="Microsoft YaHei"/>
                <a:ea typeface="Microsoft YaHei"/>
              </a:rPr>
              <a:t>端到端通道不绑定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7924800" y="1181100"/>
            <a:ext cx="3657600" cy="4991100"/>
          </a:xfrm>
          <a:prstGeom prst="roundRect">
            <a:avLst>
              <a:gd name="adj" fmla="val 2604"/>
            </a:avLst>
          </a:prstGeom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153400" y="142875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容易误解的一点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153400" y="1714500"/>
            <a:ext cx="3200400" cy="714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安全组</a:t>
            </a:r>
            <a:endParaRPr/>
          </a:p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不是加密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153400" y="2600325"/>
            <a:ext cx="32004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它只回答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这个来源能不能进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，不提供任何机密性或完整性保护。普通数据通道上的字节仍是明文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TCP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153400" y="3609975"/>
            <a:ext cx="32004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真正的保密要靠两件事：业务自身的端到端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TLS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（如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SQL TLS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），或者把数据链路放在受信隔离网络上。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8153400" y="5257800"/>
            <a:ext cx="4191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153400" y="5419725"/>
            <a:ext cx="32004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云安全组</a:t>
            </a: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0F172A"/>
                </a:solidFill>
                <a:latin typeface="Microsoft YaHei"/>
                <a:ea typeface="Microsoft YaHei"/>
              </a:rPr>
              <a:t>防火墙仍然是第一道边界，应用层安全组只是补充。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16 / 22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26" name="" descr="&lt;Slide style={{ width: '1280px', height: '720px', padding: 0, background: '#FFFFFF', flexDirection: 'row', position: 'relative' }}&gt;&#10;    &lt;Box style={{ position: 'absolute', top: 0, right: 0, width: 620, height: 720, background: 'linear-gradient(135deg,#EEF2F8 0%,#FFFFFF 100%)' }} /&gt;&#10;&#10;    &lt;Box style={{ width: 700, height: '100%', padding: '0 40px 0 64px', justifyContent: 'center', zIndex: 1 }}&gt;&#10;        &lt;Text style={{ fontSize: 88, fontWeight: 'bold', color: '#2563EB', lineHeight: 1 }}&gt;04&lt;/Text&gt;&#10;        &lt;Box style={{ height: 18 }} /&gt;&#10;        &lt;Text style={{ fontSize: 54, fontWeight: 'bold', color: '#0F172A', lineHeight: 1.15 }}&gt;运维与边界&lt;br /&gt;看得见、装得上&lt;br /&gt;以及它不做什么&lt;/Text&gt;&#10;        &lt;Box style={{ height: 22 }} /&gt;&#10;        &lt;Box style={{ width: 72, height: 3, background: '#2563EB' }} /&gt;&#10;        &lt;Box style={{ height: 20 }} /&gt;&#10;        &lt;Text style={{ fontSize: 19, color: '#64748B', lineHeight: 1.55 }}&gt;把验收状态照实写，比写一份漂亮的功能列表有用。&lt;/Text&gt;&#10;    &lt;/Box&gt;&#10;&#10;    &lt;Box style={{ width: 580, height: '100%', alignItems: 'center', justifyContent: 'center', zIndex: 1 }}&gt;&#10;        &lt;svg width={520} height={430} viewBox='0 0 520 430'&gt;&#10;            &lt;rect x='54' y='58' width='300' height='206' rx='14' fill='#FFFFFF' stroke='#0F172A' strokeWidth='2' /&gt;&#10;            &lt;rect x='74' y='78' width='110' height='8' rx='4' fill='#0F172A' /&gt;&#10;            &lt;rect x='74' y='94' width='70' height='6' rx='3' fill='#DCE3ED' /&gt;&#10;            &lt;rect x='92' y='212' width='224' height='2' fill='#DCE3ED' /&gt;&#10;            &lt;rect x='104' y='170' width='30' height='42' rx='4' fill='#DCE3ED' /&gt;&#10;            &lt;rect x='148' y='142' width='30' height='70' rx='4' fill='#94A3B8' /&gt;&#10;            &lt;rect x='192' y='118' width='30' height='94' rx='4' fill='#2563EB' /&gt;&#10;            &lt;rect x='236' y='156' width='30' height='56' rx='4' fill='#94A3B8' /&gt;&#10;            &lt;rect x='280' y='134' width='30' height='78' rx='4' fill='#2563EB' /&gt;&#10;            &lt;rect x='186' y='286' width='36' height='18' rx='3' fill='#0F172A' /&gt;&#10;            &lt;rect x='148' y='304' width='112' height='10' rx='5' fill='#0F172A' /&gt;&#10;            &lt;rect x='74' y='240' width='180' height='6' rx='3' fill='#EEF2F8' /&gt;&#10;            &lt;rect x='74' y='254' width='130' height='6' rx='3' fill='#EEF2F8' /&gt;&#10;&#10;            &lt;rect x='386' y='96' width='104' height='46' rx='8' fill='#0F172A' /&gt;&#10;            &lt;rect x='402' y='112' width='56' height='6' rx='3' fill='#60A5FA' /&gt;&#10;            &lt;rect x='402' y='124' width='34' height='6' rx='3' fill='#FFFFFF' opacity='0.4' /&gt;&#10;            &lt;rect x='386' y='158' width='104' height='46' rx='8' fill='#FFFFFF' stroke='#0F172A' strokeWidth='1.8' /&gt;&#10;            &lt;rect x='402' y='174' width='56' height='6' rx='3' fill='#0F172A' /&gt;&#10;            &lt;rect x='402' y='186' width='34' height='6' rx='3' fill='#DCE3ED' /&gt;&#10;            &lt;rect x='386' y='220' width='104' height='46' rx='8' fill='#FFFFFF' stroke='#0F172A' strokeWidth='1.8' /&gt;&#10;            &lt;rect x='402' y='236' width='56' height='6' rx='3' fill='#0F172A' /&gt;&#10;            &lt;rect x='402' y='248' width='34' height='6' rx='3' fill='#DCE3ED' /&gt;&#10;            &lt;path d='M370 119 L386 119' stroke='#2563EB' strokeWidth='2' /&gt;&#10;            &lt;path d='M370 181 L386 181' stroke='#2563EB' strokeWidth='2' /&gt;&#10;            &lt;path d='M370 243 L386 243' stroke='#2563EB' strokeWidth='2' /&gt;&#10;            &lt;circle cx='362' cy='181' r='7' fill='#2563EB' /&gt;&#10;        &lt;/svg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EEF2F8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56769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2571750"/>
            <a:ext cx="5676900" cy="2133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运维与边界</a:t>
            </a:r>
            <a:endParaRPr/>
          </a:p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看得见、装得上</a:t>
            </a:r>
            <a:endParaRPr/>
          </a:p>
          <a:p>
            <a:pPr>
              <a:lnSpc>
                <a:spcPct val="114999"/>
              </a:lnSpc>
            </a:pPr>
            <a:r>
              <a:rPr lang="zh-CN" sz="4050" b="1">
                <a:solidFill>
                  <a:srgbClr val="0F172A"/>
                </a:solidFill>
                <a:latin typeface="Microsoft YaHei"/>
                <a:ea typeface="Microsoft YaHei"/>
              </a:rPr>
              <a:t>以及它不做什么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4914900"/>
            <a:ext cx="6858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09600" y="5133975"/>
            <a:ext cx="567690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把验收状态照实写，比写一份漂亮的功能列表有用。</a:t>
            </a:r>
            <a:endParaRPr/>
          </a:p>
        </p:txBody>
      </p:sp>
      <p:pic>
        <p:nvPicPr>
          <p:cNvPr id="3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0" y="1381125"/>
            <a:ext cx="4953000" cy="4095750"/>
          </a:xfrm>
          <a:prstGeom prst="rect">
            <a:avLst/>
          </a:prstGeom>
          <a:ln/>
        </p:spPr>
      </p:pic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34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4 · 可观测性&lt;/Text&gt;&#10;            &lt;Box style={{ height: 8 }} /&gt;&#10;            &lt;Text style={{ fontSize: 34, fontWeight: 'bold', color: '#0F172A', lineHeight: 1.25 }}&gt;匿名可读全局状态，登录后才能改&lt;/Text&gt;&#10;        &lt;/Box&gt;&#10;        &lt;Box style={{ width: 4, height: 44, background: '#2563EB' }} /&gt;&#10;    &lt;/Box&gt;&#10;&#10;    &lt;Box style={{ height: 524, marginTop: 16, flexDirection: 'row', gap: 28 }}&gt;&#10;        &lt;Box style={{ width: 668, background: '#EEF2F8', borderRadius: 10, padding: '16px 18px' }}&gt;&#10;            &lt;Box style={{ height: 64, flexDirection: 'row', gap: 10 }}&gt;&#10;                &lt;Box style={{ flex: 1, background: '#FFFFFF', borderRadius: 6, padding: '10px 12px' }}&gt;&#10;                    &lt;Text style={{ fontSize: 22, fontWeight: 'bold', color: '#2563EB' }}&gt;80/100&lt;/Text&gt;&#10;                    &lt;Text style={{ fontSize: 12, color: '#64748B' }}&gt;在线客户端&lt;/Text&gt;&#10;                &lt;/Box&gt;&#10;                &lt;Box style={{ flex: 1, background: '#FFFFFF', borderRadius: 6, padding: '10px 12px' }}&gt;&#10;                    &lt;Text style={{ fontSize: 22, fontWeight: 'bold', color: '#2563EB' }}&gt;400/500&lt;/Text&gt;&#10;                    &lt;Text style={{ fontSize: 12, color: '#64748B' }}&gt;可接入通道&lt;/Text&gt;&#10;                &lt;/Box&gt;&#10;                &lt;Box style={{ flex: 1, background: '#FFFFFF', borderRadius: 6, padding: '10px 12px' }}&gt;&#10;                    &lt;Text style={{ fontSize: 22, fontWeight: 'bold', color: '#2563EB' }}&gt;650&lt;/Text&gt;&#10;                    &lt;Text style={{ fontSize: 12, color: '#64748B' }}&gt;活动连接&lt;/Text&gt;&#10;                &lt;/Box&gt;&#10;                &lt;Box style={{ flex: 1, background: '#0F172A', borderRadius: 6, padding: '10px 12px' }}&gt;&#10;                    &lt;Text style={{ fontSize: 22, fontWeight: 'bold', color: '#FFFFFF' }}&gt;5s&lt;/Text&gt;&#10;                    &lt;Text style={{ fontSize: 12, color: '#94A3B8' }}&gt;刷新周期&lt;/Text&gt;&#10;                &lt;/Box&gt;&#10;            &lt;/Box&gt;&#10;&#10;            &lt;Box style={{ height: 140, marginTop: 12, background: '#FFFFFF', border: '1.5px solid #DCE3ED', borderRadius: 8, padding: '14px 16px', justifyContent: 'space-between' }}&gt;&#10;                &lt;Box&gt;&#10;                    &lt;Box style={{ flexDirection: 'row', alignItems: 'center', gap: 10 }}&gt;&#10;                        &lt;Text style={{ fontSize: 18, fontWeight: 600, color: '#0F172A' }}&gt;上海节点 01&lt;/Text&gt;&#10;                        &lt;Box style={{ background: '#2563EB', borderRadius: 4, padding: '3px 8px' }}&gt;&#10;                            &lt;Text style={{ fontSize: 12, color: '#FFFFFF', fontWeight: 600 }}&gt;Online&lt;/Text&gt;&#10;                        &lt;/Box&gt;&#10;                        &lt;Text style={{ fontSize: 13, color: '#64748B' }}&gt;RTT 48ms · 最近心跳 3s 前 · Agent v1.0.3&lt;/Text&gt;&#10;                    &lt;/Box&gt;&#10;                    &lt;Box style={{ height: 12 }} /&gt;&#10;                    &lt;Box style={{ flexDirection: 'row', alignItems: 'center' }}&gt;&#10;                        &lt;Box style={{ width: 150 }}&gt;&#10;                            &lt;Text style={{ fontSize: 14, fontWeight: 600, color: '#0F172A' }}&gt;ERP SQL Server&lt;/Text&gt;&#10;                            &lt;Text style={{ fontSize: 12, color: '#64748B' }}&gt;erp-sql&lt;/Text&gt;&#10;                        &lt;/Box&gt;&#10;                        &lt;Box style={{ width: 190 }}&gt;&#10;                            &lt;Text style={{ fontSize: 13, color: '#0F172A', letterSpacing: 0.5 }}&gt;10.20.0.10:21433&lt;/Text&gt;&#10;                            &lt;Text style={{ fontSize: 12, color: '#64748B' }}&gt;云端端点&lt;/Text&gt;&#10;                        &lt;/Box&gt;&#10;                        &lt;Box style={{ width: 150 }}&gt;&#10;                            &lt;Text style={{ fontSize: 13, color: '#0F172A', letterSpacing: 0.5 }}&gt;192.168.10.20:1433&lt;/Text&gt;&#10;                            &lt;Text style={{ fontSize: 12, color: '#64748B' }}&gt;目标端点&lt;/Text&gt;&#10;                        &lt;/Box&gt;&#10;                        &lt;Box style={{ flex: 1, alignItems: 'flex-end' }}&gt;&#10;                            &lt;Text style={{ fontSize: 13, color: '#2563EB', fontWeight: 600 }}&gt;可接入&lt;/Text&gt;&#10;                            &lt;Text style={{ fontSize: 12, color: '#64748B' }}&gt;最近 TCP 成功&lt;/Text&gt;&#10;                        &lt;/Box&gt;&#10;                    &lt;/Box&gt;&#10;                &lt;/Box&gt;&#10;                &lt;Box style={{ flexDirection: 'row', gap: 10 }}&gt;&#10;                    &lt;Box style={{ background: '#EEF2F8', borderRadius: 4, padding: '5px 9px' }}&gt;&#10;                        &lt;Text style={{ fontSize: 12, color: '#0F172A' }}&gt;活动 12&lt;/Text&gt;&#10;                    &lt;/Box&gt;&#10;                    &lt;Box style={{ background: '#EEF2F8', borderRadius: 4, padding: '5px 9px' }}&gt;&#10;                        &lt;Text style={{ fontSize: 12, color: '#0F172A' }}&gt;待建立 1&lt;/Text&gt;&#10;                    &lt;/Box&gt;&#10;                    &lt;Box style={{ background: '#EEF2F8', borderRadius: 4, padding: '5px 9px' }}&gt;&#10;                        &lt;Text style={{ fontSize: 12, color: '#0F172A' }}&gt;→目标 1.2 MiB/s&lt;/Text&gt;&#10;                    &lt;/Box&gt;&#10;                    &lt;Box style={{ background: '#EEF2F8', borderRadius: 4, padding: '5px 9px' }}&gt;&#10;                        &lt;Text style={{ fontSize: 12, color: '#0F172A' }}&gt;→访问方 4 MiB/s&lt;/Text&gt;&#10;                    &lt;/Box&gt;&#10;                &lt;/Box&gt;&#10;            &lt;/Box&gt;&#10;&#10;            &lt;Box style={{ height: 54, marginTop: 12, background: '#FFFFFF', border: '1.5px solid #DCE3ED', borderRadius: 8, padding: '12px 16px', flexDirection: 'row', alignItems: 'center', gap: 10 }}&gt;&#10;                &lt;Text style={{ fontSize: 16, fontWeight: 600, color: '#0F172A', width: 140 }}&gt;成都节点 02&lt;/Text&gt;&#10;                &lt;Box style={{ background: '#EEF2F8', borderRadius: 4, padding: '3px 8px' }}&gt;&#10;                    &lt;Text style={{ fontSize: 12, color: '#64748B', fontWeight: 600 }}&gt;Offline&lt;/Text&gt;&#10;                &lt;/Box&gt;&#10;                &lt;Text style={{ fontSize: 13, color: '#64748B' }}&gt;最近断线：心跳超时（45s 未响应）· 退避重连中&lt;/Text&gt;&#10;            &lt;/Box&gt;&#10;&#10;            &lt;Box style={{ height: 198, marginTop: 12, background: '#0F172A', borderRadius: 8, padding: '16px 18px', justifyContent: 'space-between' }}&gt;&#10;                &lt;Box&gt;&#10;                    &lt;Text style={{ fontSize: 18, fontWeight: 600, color: '#FFFFFF' }}&gt;流量历史：分钟级增量落到 SQLite&lt;/Text&gt;&#10;                    &lt;Box style={{ height: 10 }} /&gt;&#10;                    &lt;Text style={{ fontSize: 14, color: '#CBD5E1', lineHeight: 1.6 }}&gt;服务端每 5 秒从累计计数求差，按 UTC 分钟做 UPSERT；普通字节与端到端密文字节分列存储，默认保留 90 天。&lt;/Text&gt;&#10;                    &lt;Box style={{ height: 10 }} /&gt;&#10;                    &lt;Text style={{ fontSize: 14, color: '#CBD5E1', lineHeight: 1.6 }}&gt;点通道流量数字可打开聚合历史图；查询超过 24 小时自动按 15 分钟或小时聚合。&lt;/Text&gt;&#10;                &lt;/Box&gt;&#10;                &lt;Box style={{ flexDirection: 'row', gap: 10 }}&gt;&#10;                    &lt;Box style={{ background: '#1E293B', borderRadius: 5, padding: '6px 10px' }}&gt;&#10;                        &lt;Text style={{ fontSize: 12, color: '#60A5FA' }}&gt;不存业务载荷&lt;/Text&gt;&#10;                    &lt;/Box&gt;&#10;                    &lt;Box style={{ background: '#1E293B', borderRadius: 5, padding: '6px 10px' }}&gt;&#10;                        &lt;Text style={{ fontSize: 12, color: '#60A5FA' }}&gt;不存 SQL 文本&lt;/Text&gt;&#10;                    &lt;/Box&gt;&#10;                    &lt;Box style={{ background: '#1E293B', borderRadius: 5, padding: '6px 10px' }}&gt;&#10;                        &lt;Text style={{ fontSize: 12, color: '#60A5FA' }}&gt;不存凭据&lt;/Text&gt;&#10;                    &lt;/Box&gt;&#10;                    &lt;Box style={{ background: '#1E293B', borderRadius: 5, padding: '6px 10px' }}&gt;&#10;                        &lt;Text style={{ fontSize: 12, color: '#60A5FA' }}&gt;不作为计费依据&lt;/Text&gt;&#10;                    &lt;/Box&gt;&#10;                &lt;/Box&gt;&#10;            &lt;/Box&gt;&#10;        &lt;/Box&gt;&#10;&#10;        &lt;Box style={{ width: 456, justifyContent: 'space-between' }}&gt;&#10;            &lt;Box&gt;&#10;                &lt;Text style={{ fontSize: 13, fontWeight: 600, color: '#2563EB', letterSpacing: 2 }}&gt;可见性的边界&lt;/Text&gt;&#10;                &lt;Box style={{ height: 14 }} /&gt;&#10;                &lt;Text style={{ fontSize: 24, fontWeight: 'bold', color: '#0F172A', lineHeight: 1.35 }}&gt;看得到状态&lt;br /&gt;看不到秘密&lt;/Text&gt;&#10;                &lt;Box style={{ height: 18 }} /&gt;&#10;                &lt;Text style={{ fontSize: 15, color: '#64748B', lineHeight: 1.65 }}&gt;匿名只读接口返回通道、连接、流量与访问入口的元数据，但绝不返回客户端密钥、绑定令牌、访问密钥、证书私钥或管理员密码哈希。&lt;/Text&gt;&#10;            &lt;/Box&gt;&#10;&#10;            &lt;Box&gt;&#10;                &lt;Box style={{ flexDirection: 'row', gap: 12, alignItems: 'flex-start' }}&gt;&#10;                    &lt;Text style={{ fontSize: 15, fontWeight: 'bold', color: '#2563EB', width: 22 }}&gt;1&lt;/Text&gt;&#10;                    &lt;Text style={{ flex: 1, fontSize: 15, color: '#64748B', lineHeight: 1.6 }}&gt;登录使用 PBKDF2-SHA256 密码哈希、短期 HttpOnly 会话 Cookie 与 CSRF 令牌；缺 CSRF 的已登录写请求会被拒绝。&lt;/Text&gt;&#10;                &lt;/Box&gt;&#10;                &lt;Box style={{ height: 14 }} /&gt;&#10;                &lt;Box style={{ flexDirection: 'row', gap: 12, alignItems: 'flex-start' }}&gt;&#10;                    &lt;Text style={{ fontSize: 15, fontWeight: 'bold', color: '#2563EB', width: 22 }}&gt;2&lt;/Text&gt;&#10;                    &lt;Text style={{ flex: 1, fontSize: 15, color: '#64748B', lineHeight: 1.6 }}&gt;客户端卡片下以表格展示端到端访问入口与 Agent 实际上报的本机地址；删除按钮只在登录后出现。&lt;/Text&gt;&#10;                &lt;/Box&gt;&#10;                &lt;Box style={{ height: 14 }} /&gt;&#10;                &lt;Box style={{ flexDirection: 'row', gap: 12, alignItems: 'flex-start' }}&gt;&#10;                    &lt;Text style={{ fontSize: 15, fontWeight: 'bold', color: '#2563EB', width: 22 }}&gt;3&lt;/Text&gt;&#10;                    &lt;Text style={{ flex: 1, fontSize: 15, color: '#64748B', lineHeight: 1.6 }}&gt;管理员还能查看实时连接列表并按连接 ID 断开单条连接；断开只释放该连接，不动通道配置。&lt;/Text&gt;&#10;                &lt;/Box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18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04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可观测性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48577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匿名可读全局状态，登录后才能改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09600" y="1181100"/>
            <a:ext cx="6362700" cy="4991100"/>
          </a:xfrm>
          <a:prstGeom prst="roundRect">
            <a:avLst>
              <a:gd name="adj" fmla="val 1908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781050" y="1333500"/>
            <a:ext cx="1438275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95350" y="1428750"/>
            <a:ext cx="1209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80/100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95350" y="1685925"/>
            <a:ext cx="1209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在线客户端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2314575" y="1333500"/>
            <a:ext cx="14287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2428875" y="1428750"/>
            <a:ext cx="120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400/500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2428875" y="1685925"/>
            <a:ext cx="1200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可接入通道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3838575" y="1333500"/>
            <a:ext cx="1438275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3952875" y="1428750"/>
            <a:ext cx="1209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650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952875" y="1685925"/>
            <a:ext cx="1209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活动连接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5372100" y="1333500"/>
            <a:ext cx="1428750" cy="609600"/>
          </a:xfrm>
          <a:prstGeom prst="roundRect">
            <a:avLst>
              <a:gd name="adj" fmla="val 937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486400" y="1428750"/>
            <a:ext cx="120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5s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486400" y="1685925"/>
            <a:ext cx="1200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刷新周期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781050" y="2057400"/>
            <a:ext cx="60198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933450" y="2190750"/>
            <a:ext cx="952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上海节点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 01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1981200" y="2200275"/>
            <a:ext cx="533400" cy="200025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2057400" y="2228850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Online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2609850" y="2219325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RTT 48ms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最近心跳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3s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前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· Agent v1.0.3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933450" y="25146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ERP SQL Server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33450" y="2676525"/>
            <a:ext cx="1428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erp-sql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2362200" y="252412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0F172A"/>
                </a:solidFill>
                <a:latin typeface="Microsoft YaHei"/>
                <a:ea typeface="Microsoft YaHei"/>
              </a:rPr>
              <a:t>10.20.0.10:21433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2362200" y="2676525"/>
            <a:ext cx="1809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云端端点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171950" y="252412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0F172A"/>
                </a:solidFill>
                <a:latin typeface="Microsoft YaHei"/>
                <a:ea typeface="Microsoft YaHei"/>
              </a:rPr>
              <a:t>192.168.10.20:1433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171950" y="2676525"/>
            <a:ext cx="1428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目标端点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276975" y="25241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可接入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915025" y="2676525"/>
            <a:ext cx="733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最近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成功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933450" y="3019425"/>
            <a:ext cx="571500" cy="238125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19175" y="3067050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活动</a:t>
            </a: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 12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1600200" y="3019425"/>
            <a:ext cx="619125" cy="238125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685925" y="3067050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待建立</a:t>
            </a: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 1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2314575" y="3019425"/>
            <a:ext cx="1066800" cy="238125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2400300" y="3067050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→目标</a:t>
            </a: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 1.2 MiB/s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3476625" y="3019425"/>
            <a:ext cx="1085850" cy="238125"/>
          </a:xfrm>
          <a:prstGeom prst="roundRect">
            <a:avLst>
              <a:gd name="adj" fmla="val 16000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3562350" y="30670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172A"/>
                </a:solidFill>
                <a:latin typeface="Microsoft YaHei"/>
                <a:ea typeface="Microsoft YaHei"/>
              </a:rPr>
              <a:t>→访问方</a:t>
            </a:r>
            <a:r>
              <a:rPr lang="en-US" sz="900">
                <a:solidFill>
                  <a:srgbClr val="0F172A"/>
                </a:solidFill>
                <a:latin typeface="Microsoft YaHei"/>
                <a:ea typeface="Microsoft YaHei"/>
              </a:rPr>
              <a:t> 4 MiB/s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781050" y="3505200"/>
            <a:ext cx="60198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933450" y="3667125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成都节点</a:t>
            </a: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 02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2362200" y="3667125"/>
            <a:ext cx="552450" cy="200025"/>
          </a:xfrm>
          <a:prstGeom prst="roundRect">
            <a:avLst>
              <a:gd name="adj" fmla="val 19048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2438400" y="3695700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64748B"/>
                </a:solidFill>
                <a:latin typeface="Microsoft YaHei"/>
                <a:ea typeface="Microsoft YaHei"/>
              </a:rPr>
              <a:t>Offline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009900" y="3686175"/>
            <a:ext cx="2667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最近断线：心跳超时（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45s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未响应）·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退避重连中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781050" y="4133850"/>
            <a:ext cx="6019800" cy="1885950"/>
          </a:xfrm>
          <a:prstGeom prst="roundRect">
            <a:avLst>
              <a:gd name="adj" fmla="val 404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52500" y="4286250"/>
            <a:ext cx="5676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流量历史：分钟级增量落到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SQLite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52500" y="4591050"/>
            <a:ext cx="5676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服务端每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秒从累计计数求差，按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UTC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分钟做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UPSERT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；普通字节与端到端密文字节分列存储，默认保留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90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天。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952500" y="5200650"/>
            <a:ext cx="5676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点通道流量数字可打开聚合历史图；查询超过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24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小时自动按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15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分钟或小时聚合。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952500" y="5610225"/>
            <a:ext cx="876300" cy="257175"/>
          </a:xfrm>
          <a:prstGeom prst="roundRect">
            <a:avLst>
              <a:gd name="adj" fmla="val 18519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047750" y="56673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不存业务载荷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1924050" y="5610225"/>
            <a:ext cx="933450" cy="257175"/>
          </a:xfrm>
          <a:prstGeom prst="roundRect">
            <a:avLst>
              <a:gd name="adj" fmla="val 18519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2019300" y="56673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不存</a:t>
            </a:r>
            <a:r>
              <a:rPr lang="en-US" sz="900">
                <a:solidFill>
                  <a:srgbClr val="60A5FA"/>
                </a:solidFill>
                <a:latin typeface="Microsoft YaHei"/>
                <a:ea typeface="Microsoft YaHei"/>
              </a:rPr>
              <a:t> SQL </a:t>
            </a: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文本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2952750" y="5610225"/>
            <a:ext cx="647700" cy="257175"/>
          </a:xfrm>
          <a:prstGeom prst="roundRect">
            <a:avLst>
              <a:gd name="adj" fmla="val 18519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3048000" y="56673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不存凭据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3695700" y="5610225"/>
            <a:ext cx="990600" cy="257175"/>
          </a:xfrm>
          <a:prstGeom prst="roundRect">
            <a:avLst>
              <a:gd name="adj" fmla="val 18519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790950" y="56673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0A5FA"/>
                </a:solidFill>
                <a:latin typeface="Microsoft YaHei"/>
                <a:ea typeface="Microsoft YaHei"/>
              </a:rPr>
              <a:t>不作为计费依据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239000" y="1181100"/>
            <a:ext cx="434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可见性的边界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239000" y="1466850"/>
            <a:ext cx="4343400" cy="742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看得到状态</a:t>
            </a:r>
            <a:endParaRPr/>
          </a:p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看不到秘密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239000" y="2381250"/>
            <a:ext cx="4343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匿名只读接口返回通道、连接、流量与访问入口的元数据，但绝不返回客户端密钥、绑定令牌、访问密钥、证书私钥或管理员密码哈希。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239000" y="42481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562850" y="4248150"/>
            <a:ext cx="4019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登录使用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PBKDF2-SHA256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密码哈希、短期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HttpOnly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会话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Cookie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CSRF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令牌；缺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CSRF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的已登录写请求会被拒绝。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239000" y="49339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562850" y="4933950"/>
            <a:ext cx="4019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客户端卡片下以表格展示端到端访问入口与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实际上报的本机地址；删除按钮只在登录后出现。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239000" y="56197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562850" y="5619750"/>
            <a:ext cx="4019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管理员还能查看实时连接列表并按连接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ID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断开单条连接；断开只释放该连接，不动通道配置。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18 / 22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4 · 交付形态&lt;/Text&gt;&#10;            &lt;Box style={{ height: 8 }} /&gt;&#10;            &lt;Text style={{ fontSize: 34, fontWeight: 'bold', color: '#0F172A', lineHeight: 1.25 }}&gt;三种交付物，一条流水线产出&lt;/Text&gt;&#10;        &lt;/Box&gt;&#10;        &lt;Box style={{ width: 4, height: 44, background: '#2563EB' }} /&gt;&#10;    &lt;/Box&gt;&#10;&#10;    &lt;Box style={{ height: 524, marginTop: 16 }}&gt;&#10;        &lt;Box style={{ height: 276, flexDirection: 'row', gap: 16 }}&gt;&#10;            &lt;Box style={{ width: 380, background: '#0F172A', borderRadius: 10, padding: '22px 22px', justifyContent: 'space-between' }}&gt;&#10;                &lt;Box&gt;&#10;                    &lt;Box style={{ width: 48, height: 3, background: '#2563EB' }} /&gt;&#10;                    &lt;Box style={{ height: 16 }} /&gt;&#10;                    &lt;Text style={{ fontSize: 24, fontWeight: 'bold', color: '#FFFFFF' }}&gt;Linux 服务端&lt;/Text&gt;&#10;                    &lt;Box style={{ height: 6 }} /&gt;&#10;                    &lt;Text style={{ fontSize: 14, color: '#60A5FA' }}&gt;linux-x64 自包含&lt;/Text&gt;&#10;                    &lt;Box style={{ height: 16 }} /&gt;&#10;                    &lt;Text style={{ fontSize: 14, color: '#FFFFFF', lineHeight: 1.7 }}&gt;systemd 托管&lt;/Text&gt;&#10;                    &lt;Text style={{ fontSize: 14, color: '#CBD5E1', lineHeight: 1.7 }}&gt;/etc/relaylink/server.json&lt;/Text&gt;&#10;                    &lt;Text style={{ fontSize: 14, color: '#CBD5E1', lineHeight: 1.7 }}&gt;clients/*.json · tls/&lt;/Text&gt;&#10;                    &lt;Text style={{ fontSize: 14, color: '#CBD5E1', lineHeight: 1.7 }}&gt;LimitNOFILE=16384&lt;/Text&gt;&#10;                &lt;/Box&gt;&#10;                &lt;Text style={{ fontSize: 13, color: '#94A3B8', lineHeight: 1.55 }}&gt;非 root 账号运行，配置只读。&lt;/Text&gt;&#10;            &lt;/Box&gt;&#10;&#10;            &lt;Box style={{ width: 340, background: '#EEF2F8', borderRadius: 10, padding: '22px 22px', justifyContent: 'space-between' }}&gt;&#10;                &lt;Box&gt;&#10;                    &lt;Box style={{ width: 48, height: 3, background: '#2563EB' }} /&gt;&#10;                    &lt;Box style={{ height: 16 }} /&gt;&#10;                    &lt;Text style={{ fontSize: 24, fontWeight: 'bold', color: '#0F172A' }}&gt;Windows 服务端&lt;/Text&gt;&#10;                    &lt;Box style={{ height: 6 }} /&gt;&#10;                    &lt;Text style={{ fontSize: 14, color: '#64748B' }}&gt;win-x64 自包含&lt;/Text&gt;&#10;                    &lt;Box style={{ height: 16 }} /&gt;&#10;                    &lt;Text style={{ fontSize: 14, color: '#0F172A', lineHeight: 1.7 }}&gt;Windows Service 托管&lt;/Text&gt;&#10;                    &lt;Text style={{ fontSize: 14, color: '#64748B', lineHeight: 1.7 }}&gt;Kestrel 直接监听&lt;/Text&gt;&#10;                    &lt;Text style={{ fontSize: 14, color: '#64748B', lineHeight: 1.7 }}&gt;服务账号最小读取权限&lt;/Text&gt;&#10;                    &lt;Text style={{ fontSize: 14, color: '#64748B', lineHeight: 1.7 }}&gt;无需 IIS / Nginx 反代&lt;/Text&gt;&#10;                &lt;/Box&gt;&#10;                &lt;Text style={{ fontSize: 13, color: '#64748B', lineHeight: 1.55 }}&gt;与 Agent 共用同一套 Host 生命周期。&lt;/Text&gt;&#10;            &lt;/Box&gt;&#10;&#10;            &lt;Box style={{ width: 400, background: '#FFFFFF', border: '1.5px solid #DCE3ED', borderRadius: 10, padding: '22px 22px', justifyContent: 'space-between' }}&gt;&#10;                &lt;Box&gt;&#10;                    &lt;Box style={{ width: 48, height: 3, background: '#2563EB' }} /&gt;&#10;                    &lt;Box style={{ height: 16 }} /&gt;&#10;                    &lt;Text style={{ fontSize: 24, fontWeight: 'bold', color: '#0F172A' }}&gt;Windows Agent 安装包&lt;/Text&gt;&#10;                    &lt;Box style={{ height: 6 }} /&gt;&#10;                    &lt;Text style={{ fontSize: 14, color: '#64748B' }}&gt;Inno Setup · win-x64&lt;/Text&gt;&#10;                    &lt;Box style={{ height: 16 }} /&gt;&#10;                    &lt;Text style={{ fontSize: 14, color: '#0F172A', lineHeight: 1.7 }}&gt;向导必须选择 Agent JSON 配置&lt;/Text&gt;&#10;                    &lt;Text style={{ fontSize: 14, color: '#64748B', lineHeight: 1.7 }}&gt;无配置 / 校验失败 → 不安装&lt;/Text&gt;&#10;                    &lt;Text style={{ fontSize: 14, color: '#64748B', lineHeight: 1.7 }}&gt;注册自动启动服务并立即启动&lt;/Text&gt;&#10;                    &lt;Text style={{ fontSize: 14, color: '#64748B', lineHeight: 1.7 }}&gt;桌面创建本机状态页快捷方式&lt;/Text&gt;&#10;                &lt;/Box&gt;&#10;                &lt;Text style={{ fontSize: 13, color: '#64748B', lineHeight: 1.55 }}&gt;卸载保留配置与身份文件。&lt;/Text&gt;&#10;            &lt;/Box&gt;&#10;        &lt;/Box&gt;&#10;&#10;        &lt;Box style={{ height: 234, marginTop: 14, flexDirection: 'row', gap: 32 }}&gt;&#10;            &lt;Box style={{ width: 560, background: '#EEF2F8', borderRadius: 10, padding: '22px 24px', justifyContent: 'space-between' }}&gt;&#10;                &lt;Box&gt;&#10;                    &lt;Text style={{ fontSize: 20, fontWeight: 600, color: '#0F172A' }}&gt;GitHub Actions：校验与发行分开&lt;/Text&gt;&#10;                    &lt;Box style={{ height: 10 }} /&gt;&#10;                    &lt;Text style={{ fontSize: 15, color: '#64748B', lineHeight: 1.65 }}&gt;推送 main 或提交 PR 时，在 Linux 与 Windows 上跑前端类型检查、组件测试与 .NET 单元/集成测试，不产出发布包。&lt;/Text&gt;&#10;                    &lt;Box style={{ height: 10 }} /&gt;&#10;                    &lt;Text style={{ fontSize: 15, color: '#64748B', lineHeight: 1.65 }}&gt;只有 &lt;span style={{ color: '#0F172A', fontWeight: '600' }}&gt;v1.2.3&lt;/span&gt; 形式的 tag 才触发发行：先复用全部校验，再产出三件产物并附 SHA-256 清单。&lt;/Text&gt;&#10;                &lt;/Box&gt;&#10;                &lt;Text style={{ fontSize: 13, color: '#2563EB', fontWeight: 600 }}&gt;临时产物保留 7 天 · 仅 Release 作业持有写权限&lt;/Text&gt;&#10;            &lt;/Box&gt;&#10;&#10;            &lt;Box style={{ width: 560, background: '#0F172A', borderRadius: 10, padding: '22px 24px', justifyContent: 'space-between' }}&gt;&#10;                &lt;Box&gt;&#10;                    &lt;Text style={{ fontSize: 20, fontWeight: 600, color: '#FFFFFF' }}&gt;流水线通过 ≠ 环境验收通过&lt;/Text&gt;&#10;                    &lt;Box style={{ height: 10 }} /&gt;&#10;                    &lt;Text style={{ fontSize: 15, color: '#CBD5E1', lineHeight: 1.65 }}&gt;安装包不是签名发行版；Windows Service 最小权限的专项核查、多种 NAT 类型的系统验收、24 小时满载压测都未完成。&lt;/Text&gt;&#10;                    &lt;Box style={{ height: 10 }} /&gt;&#10;                    &lt;Text style={{ fontSize: 15, color: '#CBD5E1', lineHeight: 1.65 }}&gt;构建机 SDK 为预览版，正式发布前还需稳定运行时复验。&lt;/Text&gt;&#10;                &lt;/Box&gt;&#10;                &lt;Text style={{ fontSize: 13, color: '#60A5FA', fontWeight: 600 }}&gt;把&quot;能编译&quot;和&quot;能用&quot;分开记录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19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4210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04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交付形态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42100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三种交付物，一条流水线产出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609600" y="1181100"/>
            <a:ext cx="3619500" cy="2628900"/>
          </a:xfrm>
          <a:prstGeom prst="roundRect">
            <a:avLst>
              <a:gd name="adj" fmla="val 3623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08" name=""/>
          <p:cNvSpPr/>
          <p:nvPr/>
        </p:nvSpPr>
        <p:spPr>
          <a:xfrm rot="0" flipH="0" flipV="0">
            <a:off x="819150" y="139065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19150" y="157162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Linux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服务端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19150" y="190500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0A5FA"/>
                </a:solidFill>
                <a:latin typeface="Microsoft YaHei"/>
                <a:ea typeface="Microsoft YaHei"/>
              </a:rPr>
              <a:t>linux-x64 </a:t>
            </a:r>
            <a:r>
              <a:rPr lang="zh-CN" sz="1050">
                <a:solidFill>
                  <a:srgbClr val="60A5FA"/>
                </a:solidFill>
                <a:latin typeface="Microsoft YaHei"/>
                <a:ea typeface="Microsoft YaHei"/>
              </a:rPr>
              <a:t>自包含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19150" y="221932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systemd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托管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19150" y="2495550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/etc/relaylink/server.json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19150" y="277177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clients/*.json · tls/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19150" y="3048000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LimitNOFILE=16384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19150" y="3362325"/>
            <a:ext cx="32004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非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root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账号运行，配置只读。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4381500" y="1181100"/>
            <a:ext cx="3238500" cy="2628900"/>
          </a:xfrm>
          <a:prstGeom prst="roundRect">
            <a:avLst>
              <a:gd name="adj" fmla="val 3623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4591050" y="139065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4591050" y="1571625"/>
            <a:ext cx="281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72A"/>
                </a:solidFill>
                <a:latin typeface="Microsoft YaHei"/>
                <a:ea typeface="Microsoft YaHei"/>
              </a:rPr>
              <a:t>Windows </a:t>
            </a: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服务端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4591050" y="190500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win-x64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自包含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591050" y="2219325"/>
            <a:ext cx="2819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Windows Service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托管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4591050" y="2495550"/>
            <a:ext cx="2819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Kestrel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直接监听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591050" y="2771775"/>
            <a:ext cx="2819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服务账号最小读取权限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591050" y="3048000"/>
            <a:ext cx="28194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无需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IIS / Nginx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反代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4591050" y="3362325"/>
            <a:ext cx="28194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共用同一套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Host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生命周期。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7772400" y="1181100"/>
            <a:ext cx="3810000" cy="2628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7981950" y="1390650"/>
            <a:ext cx="4572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981950" y="1571625"/>
            <a:ext cx="3390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72A"/>
                </a:solidFill>
                <a:latin typeface="Microsoft YaHei"/>
                <a:ea typeface="Microsoft YaHei"/>
              </a:rPr>
              <a:t>Windows Agent </a:t>
            </a: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安装包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981950" y="19050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Inno Setup · win-x64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7981950" y="2219325"/>
            <a:ext cx="33909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向导必须选择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Agent JSON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配置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981950" y="2495550"/>
            <a:ext cx="33909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无配置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校验失败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不安装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981950" y="2771775"/>
            <a:ext cx="33909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注册自动启动服务并立即启动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981950" y="3048000"/>
            <a:ext cx="33909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桌面创建本机状态页快捷方式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981950" y="3362325"/>
            <a:ext cx="33909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卸载保留配置与身份文件。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09600" y="3943350"/>
            <a:ext cx="5334000" cy="2228850"/>
          </a:xfrm>
          <a:prstGeom prst="roundRect">
            <a:avLst>
              <a:gd name="adj" fmla="val 4274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38200" y="41529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GitHub Actions</a:t>
            </a: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：校验与发行分开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38200" y="4476750"/>
            <a:ext cx="4876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推送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main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或提交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PR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时，在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Linux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Windows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上跑前端类型检查、组件测试与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.NET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集成测试，不产出发布包。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38200" y="5143500"/>
            <a:ext cx="4876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只有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v1.2.3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形式的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tag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才触发发行：先复用全部校验，再产出三件产物并附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SHA-256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清单。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38200" y="5810250"/>
            <a:ext cx="487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临时产物保留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 7 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天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仅</a:t>
            </a: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 Release 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作业持有写权限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248400" y="3943350"/>
            <a:ext cx="5334000" cy="2228850"/>
          </a:xfrm>
          <a:prstGeom prst="roundRect">
            <a:avLst>
              <a:gd name="adj" fmla="val 4274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477000" y="41529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流水线通过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≠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环境验收通过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477000" y="4476750"/>
            <a:ext cx="4876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安装包不是签名发行版；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Windows Service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最小权限的专项核查、多种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NAT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类型的系统验收、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24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小时满载压测都未完成。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477000" y="5143500"/>
            <a:ext cx="48768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构建机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SDK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为预览版，正式发布前还需稳定运行时复验。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477000" y="5810250"/>
            <a:ext cx="487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0A5FA"/>
                </a:solidFill>
                <a:latin typeface="Microsoft YaHei"/>
                <a:ea typeface="Microsoft YaHei"/>
              </a:rPr>
              <a:t>把</a:t>
            </a:r>
            <a:r>
              <a:rPr lang="en-US" sz="975" b="1">
                <a:solidFill>
                  <a:srgbClr val="60A5FA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60A5FA"/>
                </a:solidFill>
                <a:latin typeface="Microsoft YaHei"/>
                <a:ea typeface="Microsoft YaHei"/>
              </a:rPr>
              <a:t>能编译</a:t>
            </a:r>
            <a:r>
              <a:rPr lang="en-US" sz="975" b="1">
                <a:solidFill>
                  <a:srgbClr val="60A5FA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60A5FA"/>
                </a:solidFill>
                <a:latin typeface="Microsoft YaHei"/>
                <a:ea typeface="Microsoft YaHei"/>
              </a:rPr>
              <a:t>和</a:t>
            </a:r>
            <a:r>
              <a:rPr lang="en-US" sz="975" b="1">
                <a:solidFill>
                  <a:srgbClr val="60A5FA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60A5FA"/>
                </a:solidFill>
                <a:latin typeface="Microsoft YaHei"/>
                <a:ea typeface="Microsoft YaHei"/>
              </a:rPr>
              <a:t>能用</a:t>
            </a:r>
            <a:r>
              <a:rPr lang="en-US" sz="975" b="1">
                <a:solidFill>
                  <a:srgbClr val="60A5FA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60A5FA"/>
                </a:solidFill>
                <a:latin typeface="Microsoft YaHei"/>
                <a:ea typeface="Microsoft YaHei"/>
              </a:rPr>
              <a:t>分开记录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19 / 22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79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4 · 落地情况&lt;/Text&gt;&#10;            &lt;Box style={{ height: 8 }} /&gt;&#10;            &lt;Text style={{ fontSize: 34, fontWeight: 'bold', color: '#0F172A', lineHeight: 1.25 }}&gt;它不是纸面设计，已经在真实环境跑起来了&lt;/Text&gt;&#10;        &lt;/Box&gt;&#10;        &lt;Box style={{ width: 4, height: 44, background: '#2563EB' }} /&gt;&#10;    &lt;/Box&gt;&#10;&#10;    &lt;Box style={{ height: 524, marginTop: 16 }}&gt;&#10;        &lt;Box style={{ height: 300, flexDirection: 'row', gap: 20, alignItems: 'stretch' }}&gt;&#10;            &lt;Box style={{ flex: 1, background: '#EEF2F8', borderRadius: 10, padding: '26px 26px', justifyContent: 'space-between' }}&gt;&#10;                &lt;Box&gt;&#10;                    &lt;Text style={{ fontSize: 13, fontWeight: 600, color: '#2563EB', letterSpacing: 1 }}&gt;跨公网 RDP&lt;/Text&gt;&#10;                    &lt;Box style={{ height: 14 }} /&gt;&#10;                    &lt;Text style={{ fontSize: 40, fontWeight: 'bold', color: '#0F172A', lineHeight: 1.2 }}&gt;连续运行 1 天&lt;/Text&gt;&#10;                    &lt;Box style={{ height: 16 }} /&gt;&#10;                    &lt;Text style={{ fontSize: 14.5, color: '#64748B', lineHeight: 1.7 }}&gt;部署在自有服务器上——也就是仓库验证记录里那台。公网访问端经隧道登录内网 Windows 桌面，按真实使用方式跑满了一整天。&lt;/Text&gt;&#10;                &lt;/Box&gt;&#10;                &lt;Box&gt;&#10;                    &lt;Box style={{ height: 1, background: '#DCE3ED' }} /&gt;&#10;                    &lt;Box style={{ height: 12 }} /&gt;&#10;                    &lt;Text style={{ fontSize: 13.5, color: '#0F172A', lineHeight: 1.7 }}&gt;· 图形桌面是对时延最敏感的一类场景&lt;/Text&gt;&#10;                    &lt;Text style={{ fontSize: 13.5, color: '#0F172A', lineHeight: 1.7 }}&gt;· 走的是跨公网、跨 NAT 的完整链路，不是本机回环&lt;/Text&gt;&#10;                &lt;/Box&gt;&#10;            &lt;/Box&gt;&#10;&#10;            &lt;Box style={{ flex: 1, background: '#FFFFFF', border: '1.5px solid #2563EB', borderRadius: 10, padding: '26px 26px', justifyContent: 'space-between' }}&gt;&#10;                &lt;Box&gt;&#10;                    &lt;Text style={{ fontSize: 13, fontWeight: 600, color: '#2563EB', letterSpacing: 1 }}&gt;SQL Server 数据通道&lt;/Text&gt;&#10;                    &lt;Box style={{ height: 14 }} /&gt;&#10;                    &lt;Text style={{ fontSize: 40, fontWeight: 'bold', color: '#0F172A', lineHeight: 1.2 }}&gt;已投产&lt;/Text&gt;&#10;                    &lt;Box style={{ height: 16 }} /&gt;&#10;                    &lt;Text style={{ fontSize: 14.5, color: '#64748B', lineHeight: 1.7 }}&gt;在另一个环境中完成部署并投入使用。这正是它最主要的目标场景：云端业务穿过反向隧道访问内网数据库。&lt;/Text&gt;&#10;                &lt;/Box&gt;&#10;                &lt;Box&gt;&#10;                    &lt;Box style={{ height: 1, background: '#DCE3ED' }} /&gt;&#10;                    &lt;Box style={{ height: 12 }} /&gt;&#10;                    &lt;Text style={{ fontSize: 13.5, color: '#0F172A', lineHeight: 1.7 }}&gt;· 第一章说的&quot;数据出不来&quot;，堵的就是这条链路&lt;/Text&gt;&#10;                    &lt;Text style={{ fontSize: 13.5, color: '#0F172A', lineHeight: 1.7 }}&gt;· 长连接、大回包、突发查询，背压设计在这里才有意义&lt;/Text&gt;&#10;                &lt;/Box&gt;&#10;            &lt;/Box&gt;&#10;        &lt;/Box&gt;&#10;&#10;        &lt;Box style={{ height: 212, marginTop: 12, background: '#0F172A', borderRadius: 10, padding: '22px 28px', justifyContent: 'space-between' }}&gt;&#10;            &lt;Box&gt;&#10;                &lt;Text style={{ fontSize: 13, fontWeight: 600, color: '#60A5FA', letterSpacing: 2 }}&gt;把话说严谨一点&lt;/Text&gt;&#10;                &lt;Box style={{ height: 12 }} /&gt;&#10;                &lt;Text style={{ fontSize: 28, fontWeight: 'bold', color: '#FFFFFF', lineHeight: 1.3 }}&gt;跑起来 ≠ 压测通过&lt;/Text&gt;&#10;            &lt;/Box&gt;&#10;            &lt;Box&gt;&#10;                &lt;Text style={{ fontSize: 15, color: '#CBD5E1', lineHeight: 1.7 }}&gt;连续运行一天是真实场景下的稳定性观察，不是受控容量验收：它证明的东西是&quot;能用&quot;，不是&quot;能扛多少&quot;。100 客户端 / 500 通道 / 1000 连接 / 100 Mbps 仍然只是拟定基线，24 小时满载多发压力测试尚未执行。&lt;/Text&gt;&#10;                &lt;Box style={{ height: 8 }} /&gt;&#10;                &lt;Text style={{ fontSize: 13, color: '#94A3B8', lineHeight: 1.55 }}&gt;这两者的差别，是写下这段字时不愿意含糊的地方。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20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615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04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落地情况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61531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它不是纸面设计，已经在真实环境跑起来了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609600" y="1181100"/>
            <a:ext cx="5391150" cy="285750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57250" y="1428750"/>
            <a:ext cx="489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2563EB"/>
                </a:solidFill>
                <a:latin typeface="Microsoft YaHei"/>
                <a:ea typeface="Microsoft YaHei"/>
              </a:rPr>
              <a:t>跨公网</a:t>
            </a:r>
            <a:r>
              <a:rPr lang="en-US" sz="975" b="1" spc="75">
                <a:solidFill>
                  <a:srgbClr val="2563EB"/>
                </a:solidFill>
                <a:latin typeface="Microsoft YaHei"/>
                <a:ea typeface="Microsoft YaHei"/>
              </a:rPr>
              <a:t> RDP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57250" y="1714500"/>
            <a:ext cx="489585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连续运行</a:t>
            </a:r>
            <a:r>
              <a:rPr lang="en-US" sz="3000" b="1">
                <a:solidFill>
                  <a:srgbClr val="0F172A"/>
                </a:solidFill>
                <a:latin typeface="Microsoft YaHei"/>
                <a:ea typeface="Microsoft YaHei"/>
              </a:rPr>
              <a:t> 1 </a:t>
            </a:r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57250" y="2419350"/>
            <a:ext cx="4895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部署在自有服务器上——也就是仓库验证记录里那台。公网访问端经隧道登录内网</a:t>
            </a:r>
            <a:r>
              <a:rPr lang="en-US" sz="1088">
                <a:solidFill>
                  <a:srgbClr val="64748B"/>
                </a:solidFill>
                <a:latin typeface="Microsoft YaHei"/>
                <a:ea typeface="Microsoft YaHei"/>
              </a:rPr>
              <a:t> Windows </a:t>
            </a: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桌面，按真实使用方式跑满了一整天。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857250" y="3133725"/>
            <a:ext cx="4895850" cy="9525"/>
          </a:xfrm>
          <a:prstGeom prst="rect">
            <a:avLst/>
          </a:prstGeom>
          <a:solidFill>
            <a:srgbClr val="DCE3ED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57250" y="3257550"/>
            <a:ext cx="489585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13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013">
                <a:solidFill>
                  <a:srgbClr val="0F172A"/>
                </a:solidFill>
                <a:latin typeface="Microsoft YaHei"/>
                <a:ea typeface="Microsoft YaHei"/>
              </a:rPr>
              <a:t>图形桌面是对时延最敏感的一类场景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57250" y="3524250"/>
            <a:ext cx="489585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13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013">
                <a:solidFill>
                  <a:srgbClr val="0F172A"/>
                </a:solidFill>
                <a:latin typeface="Microsoft YaHei"/>
                <a:ea typeface="Microsoft YaHei"/>
              </a:rPr>
              <a:t>走的是跨公网、跨</a:t>
            </a:r>
            <a:r>
              <a:rPr lang="en-US" sz="1013">
                <a:solidFill>
                  <a:srgbClr val="0F172A"/>
                </a:solidFill>
                <a:latin typeface="Microsoft YaHei"/>
                <a:ea typeface="Microsoft YaHei"/>
              </a:rPr>
              <a:t> NAT </a:t>
            </a:r>
            <a:r>
              <a:rPr lang="zh-CN" sz="1013">
                <a:solidFill>
                  <a:srgbClr val="0F172A"/>
                </a:solidFill>
                <a:latin typeface="Microsoft YaHei"/>
                <a:ea typeface="Microsoft YaHei"/>
              </a:rPr>
              <a:t>的完整链路，不是本机回环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191250" y="1181100"/>
            <a:ext cx="539115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438900" y="1428750"/>
            <a:ext cx="489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2563EB"/>
                </a:solidFill>
                <a:latin typeface="Microsoft YaHei"/>
                <a:ea typeface="Microsoft YaHei"/>
              </a:rPr>
              <a:t>SQL Server </a:t>
            </a:r>
            <a:r>
              <a:rPr lang="zh-CN" sz="975" b="1" spc="75">
                <a:solidFill>
                  <a:srgbClr val="2563EB"/>
                </a:solidFill>
                <a:latin typeface="Microsoft YaHei"/>
                <a:ea typeface="Microsoft YaHei"/>
              </a:rPr>
              <a:t>数据通道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438900" y="1714500"/>
            <a:ext cx="489585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已投产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438900" y="2419350"/>
            <a:ext cx="4895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64748B"/>
                </a:solidFill>
                <a:latin typeface="Microsoft YaHei"/>
                <a:ea typeface="Microsoft YaHei"/>
              </a:rPr>
              <a:t>在另一个环境中完成部署并投入使用。这正是它最主要的目标场景：云端业务穿过反向隧道访问内网数据库。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438900" y="3133725"/>
            <a:ext cx="4895850" cy="9525"/>
          </a:xfrm>
          <a:prstGeom prst="rect">
            <a:avLst/>
          </a:prstGeom>
          <a:solidFill>
            <a:srgbClr val="DCE3ED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438900" y="3257550"/>
            <a:ext cx="489585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13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013">
                <a:solidFill>
                  <a:srgbClr val="0F172A"/>
                </a:solidFill>
                <a:latin typeface="Microsoft YaHei"/>
                <a:ea typeface="Microsoft YaHei"/>
              </a:rPr>
              <a:t>第一章说的</a:t>
            </a:r>
            <a:r>
              <a:rPr lang="en-US" sz="1013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0F172A"/>
                </a:solidFill>
                <a:latin typeface="Microsoft YaHei"/>
                <a:ea typeface="Microsoft YaHei"/>
              </a:rPr>
              <a:t>数据出不来</a:t>
            </a:r>
            <a:r>
              <a:rPr lang="en-US" sz="1013">
                <a:solidFill>
                  <a:srgbClr val="0F172A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0F172A"/>
                </a:solidFill>
                <a:latin typeface="Microsoft YaHei"/>
                <a:ea typeface="Microsoft YaHei"/>
              </a:rPr>
              <a:t>，堵的就是这条链路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438900" y="3524250"/>
            <a:ext cx="489585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13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013">
                <a:solidFill>
                  <a:srgbClr val="0F172A"/>
                </a:solidFill>
                <a:latin typeface="Microsoft YaHei"/>
                <a:ea typeface="Microsoft YaHei"/>
              </a:rPr>
              <a:t>长连接、大回包、突发查询，背压设计在这里才有意义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4152900"/>
            <a:ext cx="10972800" cy="2019300"/>
          </a:xfrm>
          <a:prstGeom prst="roundRect">
            <a:avLst>
              <a:gd name="adj" fmla="val 471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76300" y="4362450"/>
            <a:ext cx="10439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60A5FA"/>
                </a:solidFill>
                <a:latin typeface="Microsoft YaHei"/>
                <a:ea typeface="Microsoft YaHei"/>
              </a:rPr>
              <a:t>把话说严谨一点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76300" y="4629150"/>
            <a:ext cx="10439400" cy="4191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跑起来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≠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压测通过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76300" y="5057775"/>
            <a:ext cx="10439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连续运行一天是真实场景下的稳定性观察，不是受控容量验收：它证明的东西是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能用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，不是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能扛多少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100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客户端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/ 500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通道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/ 1000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连接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 / 100 Mbps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仍然只是拟定基线，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24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小时满载多发压力测试尚未执行。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876300" y="5724525"/>
            <a:ext cx="104394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这两者的差别，是写下这段字时不愿意含糊的地方。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20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06" name="" descr="&lt;Slide style={{ width: '1280px', height: '720px', padding: '20px 64px', background: '#FFFFFF' }}&gt;&#10;    &lt;Box style={{ height: 88, flexDirection: 'row', alignItems: 'flex-end', justifyContent: 'space-between' }}&gt;&#10;        &lt;Box&gt;&#10;            &lt;Text style={{ fontSize: 13, fontWeight: 600, color: '#2563EB', letterSpacing: 2 }}&gt;CHAPTER 04 · 边界与验证&lt;/Text&gt;&#10;            &lt;Box style={{ height: 8 }} /&gt;&#10;            &lt;Text style={{ fontSize: 34, fontWeight: 'bold', color: '#0F172A', lineHeight: 1.25 }}&gt;它接下来会补什么，永远不做什么&lt;/Text&gt;&#10;        &lt;/Box&gt;&#10;        &lt;Box style={{ width: 4, height: 44, background: '#2563EB' }} /&gt;&#10;    &lt;/Box&gt;&#10;&#10;    &lt;Box style={{ height: 524, marginTop: 16, flexDirection: 'row', gap: 28 }}&gt;&#10;        &lt;Box style={{ width: 260, background: '#0F172A', borderRadius: 10, padding: '28px 24px', justifyContent: 'space-between' }}&gt;&#10;            &lt;Box&gt;&#10;                &lt;Text style={{ fontSize: 26, fontWeight: 'bold', color: '#FFFFFF', lineHeight: 1.3 }}&gt;网络组件&lt;br /&gt;不是网站托管方案&lt;/Text&gt;&#10;                &lt;Box style={{ height: 16 }} /&gt;&#10;                &lt;Box style={{ width: 44, height: 3, background: '#2563EB' }} /&gt;&#10;            &lt;/Box&gt;&#10;            &lt;Box&gt;&#10;                &lt;Text style={{ fontSize: 14, color: '#CBD5E1', lineHeight: 1.65 }}&gt;它只负责把传输层字节从一端搬到另一端。&lt;span style={{ fontWeight: '600', color: '#FFFFFF' }}&gt;HTTP 域名路由、虚拟主机、证书托管这类应用层能力不会单独提供。&lt;/span&gt;&lt;/Text&gt;&#10;                &lt;Box style={{ height: 12 }} /&gt;&#10;                &lt;Text style={{ fontSize: 14, color: '#CBD5E1', lineHeight: 1.65 }}&gt;你可以拿它把 443 端口的流量送进内网，但那之后的 Web 服务器该怎么部署，是另一件事。&lt;/Text&gt;&#10;                &lt;Box style={{ height: 14 }} /&gt;&#10;                &lt;Text style={{ fontSize: 12.5, color: '#64748B', lineHeight: 1.55 }}&gt;首期只代理 TCP 字节流，不解析也不改写业务协议。&lt;/Text&gt;&#10;            &lt;/Box&gt;&#10;        &lt;/Box&gt;&#10;&#10;        &lt;Box style={{ flex: 1 }}&gt;&#10;            &lt;Box style={{ height: 48, background: '#DBEAFE', borderRadius: 10, padding: '12px 18px', flexDirection: 'row', alignItems: 'center', gap: 14 }}&gt;&#10;                &lt;Box style={{ background: '#2563EB', borderRadius: 5, padding: '6px 10px' }}&gt;&#10;                    &lt;Text style={{ fontSize: 13, fontWeight: 600, color: '#FFFFFF' }}&gt;真实环境已投产&lt;/Text&gt;&#10;                &lt;/Box&gt;&#10;                &lt;Text style={{ flex: 1, fontSize: 14, color: '#0F172A', lineHeight: 1.5 }}&gt;跨公网 RDP（自有服务器，连续运行一天）· SQL Server 数据通道（另一环境）——详见上一页的分寸说明。&lt;/Text&gt;&#10;            &lt;/Box&gt;&#10;&#10;            &lt;Box style={{ height: 148, marginTop: 12, background: '#EEF2F8', borderRadius: 10, padding: '14px 22px', justifyContent: 'space-between' }}&gt;&#10;                &lt;Box style={{ flexDirection: 'row', alignItems: 'center', gap: 10 }}&gt;&#10;                    &lt;Box style={{ background: '#2563EB', borderRadius: 5, padding: '5px 10px' }}&gt;&#10;                        &lt;Text style={{ fontSize: 13, fontWeight: 600, color: '#FFFFFF' }}&gt;后续会支持&lt;/Text&gt;&#10;                    &lt;/Box&gt;&#10;                    &lt;Box style={{ flex: 1, flexDirection: 'row', flexWrap: 'wrap', gap: 9 }}&gt;&#10;                        &lt;Box style={{ background: '#FFFFFF', border: '1.5px solid #93C5FD', borderRadius: 5, padding: '5px 10px' }}&gt;&#10;                            &lt;Text style={{ fontSize: 13, color: '#0F172A' }}&gt;UDP&lt;/Text&gt;&#10;                        &lt;/Box&gt;&#10;                        &lt;Box style={{ background: '#FFFFFF', border: '1.5px solid #93C5FD', borderRadius: 5, padding: '5px 10px' }}&gt;&#10;                            &lt;Text style={{ fontSize: 13, color: '#0F172A' }}&gt;其他传输层协议&lt;/Text&gt;&#10;                        &lt;/Box&gt;&#10;                        &lt;Box style={{ background: '#FFFFFF', border: '1.5px solid #93C5FD', borderRadius: 5, padding: '5px 10px' }}&gt;&#10;                            &lt;Text style={{ fontSize: 13, color: '#0F172A' }}&gt;更多连接方式&lt;/Text&gt;&#10;                        &lt;/Box&gt;&#10;                    &lt;/Box&gt;&#10;                &lt;/Box&gt;&#10;                &lt;Box style={{ flexDirection: 'row', alignItems: 'center', gap: 10 }}&gt;&#10;                    &lt;Box style={{ background: '#0F172A', borderRadius: 5, padding: '5px 10px' }}&gt;&#10;                        &lt;Text style={{ fontSize: 13, fontWeight: 600, color: '#FFFFFF' }}&gt;明确不做&lt;/Text&gt;&#10;                    &lt;/Box&gt;&#10;                    &lt;Box style={{ flex: 1, flexDirection: 'row', flexWrap: 'wrap', gap: 9 }}&gt;&#10;                        &lt;Box style={{ background: '#DCE3ED', borderRadius: 5, padding: '5px 10px' }}&gt;&#10;                            &lt;Text style={{ fontSize: 13, color: '#0F172A' }}&gt;HTTP 域名路由&lt;/Text&gt;&#10;                        &lt;/Box&gt;&#10;                        &lt;Box style={{ background: '#DCE3ED', borderRadius: 5, padding: '5px 10px' }}&gt;&#10;                            &lt;Text style={{ fontSize: 13, color: '#0F172A' }}&gt;HTTP(S) 反向代理与虚拟主机&lt;/Text&gt;&#10;                        &lt;/Box&gt;&#10;                        &lt;Box style={{ background: '#DCE3ED', borderRadius: 5, padding: '5px 10px' }}&gt;&#10;                            &lt;Text style={{ fontSize: 13, color: '#0F172A' }}&gt;证书与站点托管&lt;/Text&gt;&#10;                        &lt;/Box&gt;&#10;                    &lt;/Box&gt;&#10;                &lt;/Box&gt;&#10;                &lt;Text style={{ fontSize: 12.5, color: '#64748B', lineHeight: 1.55 }}&gt;同样不在范围：SOCKS、VPN / IP 层组网、P2P 打洞、SQL Browser、集群与无损迁移、SQL 审计、健康查询、告警、远程升级、断连重放。&lt;/Text&gt;&#10;            &lt;/Box&gt;&#10;&#10;            &lt;Box style={{ height: 148, marginTop: 12, background: '#FFFFFF', border: '1.5px solid #DCE3ED', borderRadius: 10, padding: '14px 22px' }}&gt;&#10;                &lt;Text style={{ fontSize: 17, fontWeight: 600, color: '#0F172A' }}&gt;仓库内可重复执行的验证&lt;/Text&gt;&#10;                &lt;Box style={{ height: 10 }} /&gt;&#10;                &lt;Text style={{ fontSize: 13, color: '#64748B', lineHeight: 1.6 }}&gt;· SQL Server 2022 与 PostgreSQL 17：建表、插入、联表分组、UPDATE、事务回滚全部断言通过。&lt;/Text&gt;&#10;                &lt;Text style={{ fontSize: 13, color: '#64748B', lineHeight: 1.6 }}&gt;· 双 Agent 端到端互访：证书固定、访问密钥证明、128 KiB 精确回显与半关闭均通过。&lt;/Text&gt;&#10;                &lt;Text style={{ fontSize: 13, color: '#64748B', lineHeight: 1.6 }}&gt;· 32 路并发每路 1 MiB；单元测试 34/34、集成测试 21/21、前端组件测试 5/5。&lt;/Text&gt;&#10;            &lt;/Box&gt;&#10;&#10;            &lt;Box style={{ height: 144, marginTop: 12, background: '#0F172A', borderRadius: 10, padding: '14px 22px' }}&gt;&#10;                &lt;Text style={{ fontSize: 17, fontWeight: 600, color: '#FFFFFF' }}&gt;还没验的（照实说）&lt;/Text&gt;&#10;                &lt;Box style={{ height: 10 }} /&gt;&#10;                &lt;Text style={{ fontSize: 13, color: '#CBD5E1', lineHeight: 1.6 }}&gt;· 受控的 24 小时容量压测未执行；那组拟定基线&lt;span style={{ fontWeight: '600', color: '#FFFFFF' }}&gt;不是实测容量&lt;/span&gt;。&lt;/Text&gt;&#10;                &lt;Text style={{ fontSize: 13, color: '#CBD5E1', lineHeight: 1.6 }}&gt;· 多种 NAT 类型与多层 NAT 的系统性验收、安装包完整装卸、最小权限专项核查未闭环。&lt;/Text&gt;&#10;                &lt;Text style={{ fontSize: 13, color: '#CBD5E1', lineHeight: 1.6 }}&gt;· 审计事件只有设计；RDP 登录后数十秒出画面的根因仍未做关闭 UDP 的 A/B 复测。&lt;/Text&gt;&#10;            &lt;/Box&gt;&#10;        &lt;/Box&gt;&#10;    &lt;/Box&gt;&#10;&#10;    &lt;Box style={{ height: 36, marginTop: 12, flexDirection: 'row', alignItems: 'center', justifyContent: 'space-between' }}&gt;&#10;        &lt;Box style={{ flexDirection: 'row', alignItems: 'center', gap: 8 }}&gt;&#10;            &lt;Box style={{ width: 6, height: 6, background: '#2563EB' }} /&gt;&#10;            &lt;Text style={{ fontSize: 14, color: '#64748B' }}&gt;RelayLink · 开源反向 TCP 代理&lt;/Text&gt;&#10;        &lt;/Box&gt;&#10;        &lt;Text style={{ fontSize: 14, color: '#64748B' }}&gt;21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09600" y="31432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CHAPTER 04 ·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边界与验证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48577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它接下来会补什么，永远不做什么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11544300" y="609600"/>
            <a:ext cx="3810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609600" y="1181100"/>
            <a:ext cx="2476500" cy="499110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2019300" cy="7810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网络组件</a:t>
            </a:r>
            <a:endParaRPr/>
          </a:p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不是网站托管方案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838200" y="2381250"/>
            <a:ext cx="4191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838200" y="3352800"/>
            <a:ext cx="20193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它只负责把传输层字节从一端搬到另一端。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HTTP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域名路由、虚拟主机、证书托管这类应用层能力不会单独提供。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38200" y="4524375"/>
            <a:ext cx="20193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你可以拿它把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443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端口的流量送进内网，但那之后的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Web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服务器该怎么部署，是另一件事。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38200" y="5457825"/>
            <a:ext cx="20193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首期只代理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字节流，不解析也不改写业务协议。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3352800" y="1181100"/>
            <a:ext cx="8229600" cy="457200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3524250" y="1276350"/>
            <a:ext cx="1057275" cy="266700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619500" y="13335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真实环境已投产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714875" y="1285875"/>
            <a:ext cx="66960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跨公网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RDP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（自有服务器，连续运行一天）·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SQL Server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数据通道（另一环境）——详见上一页的分寸说明。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3352800" y="1752600"/>
            <a:ext cx="8229600" cy="1409700"/>
          </a:xfrm>
          <a:prstGeom prst="roundRect">
            <a:avLst>
              <a:gd name="adj" fmla="val 6757"/>
            </a:avLst>
          </a:prstGeom>
          <a:solidFill>
            <a:srgbClr val="EEF2F8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3562350" y="1885950"/>
            <a:ext cx="809625" cy="247650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3657600" y="19335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后续会支持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4467225" y="1885950"/>
            <a:ext cx="457200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562475" y="1933575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172A"/>
                </a:solidFill>
                <a:latin typeface="Microsoft YaHei"/>
                <a:ea typeface="Microsoft YaHei"/>
              </a:rPr>
              <a:t>UDP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5010150" y="1885950"/>
            <a:ext cx="1057275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105400" y="19335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其他传输层协议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153150" y="1885950"/>
            <a:ext cx="933450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248400" y="19335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更多连接方式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3562350" y="2343150"/>
            <a:ext cx="685800" cy="247650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3657600" y="23907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明确不做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4343400" y="2343150"/>
            <a:ext cx="1047750" cy="247650"/>
          </a:xfrm>
          <a:prstGeom prst="roundRect">
            <a:avLst>
              <a:gd name="adj" fmla="val 19231"/>
            </a:avLst>
          </a:prstGeom>
          <a:solidFill>
            <a:srgbClr val="DCE3ED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438650" y="2390775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172A"/>
                </a:solidFill>
                <a:latin typeface="Microsoft YaHei"/>
                <a:ea typeface="Microsoft YaHei"/>
              </a:rPr>
              <a:t>HTTP </a:t>
            </a: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域名路由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5476875" y="2343150"/>
            <a:ext cx="1819275" cy="247650"/>
          </a:xfrm>
          <a:prstGeom prst="roundRect">
            <a:avLst>
              <a:gd name="adj" fmla="val 19231"/>
            </a:avLst>
          </a:prstGeom>
          <a:solidFill>
            <a:srgbClr val="DCE3ED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5572125" y="239077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172A"/>
                </a:solidFill>
                <a:latin typeface="Microsoft YaHei"/>
                <a:ea typeface="Microsoft YaHei"/>
              </a:rPr>
              <a:t>HTTP(S) </a:t>
            </a: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反向代理与虚拟主机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7381875" y="2343150"/>
            <a:ext cx="1057275" cy="247650"/>
          </a:xfrm>
          <a:prstGeom prst="roundRect">
            <a:avLst>
              <a:gd name="adj" fmla="val 19231"/>
            </a:avLst>
          </a:prstGeom>
          <a:solidFill>
            <a:srgbClr val="DCE3ED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477125" y="23907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Microsoft YaHei"/>
                <a:ea typeface="Microsoft YaHei"/>
              </a:rPr>
              <a:t>证书与站点托管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3562350" y="2800350"/>
            <a:ext cx="78105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同样不在范围：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SOCKS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VPN / IP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层组网、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P2P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打洞、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SQL Browser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、集群与无损迁移、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>SQL </a:t>
            </a: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审计、健康查询、告警、远程升级、断连重放。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3352800" y="3276600"/>
            <a:ext cx="82296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9050">
            <a:solidFill>
              <a:srgbClr val="DCE3ED"/>
            </a:solidFill>
            <a:prstDash val="solid"/>
          </a:ln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3562350" y="3409950"/>
            <a:ext cx="781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仓库内可重复执行的验证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3562350" y="3705225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· SQL Server 2022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PostgreSQL 17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：建表、插入、联表分组、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UPDATE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、事务回滚全部断言通过。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3562350" y="3943350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双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端到端互访：证书固定、访问密钥证明、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128 KiB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精确回显与半关闭均通过。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562350" y="4181475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· 32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路并发每路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1 MiB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；单元测试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34/34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、集成测试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21/21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、前端组件测试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5/5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3352800" y="4800600"/>
            <a:ext cx="8229600" cy="1371600"/>
          </a:xfrm>
          <a:prstGeom prst="roundRect">
            <a:avLst>
              <a:gd name="adj" fmla="val 6944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3562350" y="4933950"/>
            <a:ext cx="781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还没验的（照实说）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3562350" y="5229225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受控的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24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小时容量压测未执行；那组拟定基线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不是实测容量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3562350" y="5467350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多种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NAT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类型与多层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NAT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的系统性验收、安装包完整装卸、最小权限专项核查未闭环。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3562350" y="5705475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审计事件只有设计；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RDP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登录后数十秒出画面的根因仍未做关闭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UDP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的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A/B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复测。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42950" y="638175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RelayLink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开源反向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TCP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125200" y="63817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21 / 22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52" name="" descr="&lt;Slide style={{ width: '1280px', height: '720px', padding: 0, background: '#FFFFFF', flexDirection: 'row', position: 'relative' }}&gt;&#10;    &lt;Box style={{ position: 'absolute', top: 0, right: 0, width: 660, height: 720, background: 'linear-gradient(135deg,#EEF2F8 0%,#FFFFFF 100%)' }} /&gt;&#10;    &lt;Box style={{ position: 'absolute', left: 0, bottom: 0, width: 1280, height: 6, background: '#2563EB' }} /&gt;&#10;&#10;    &lt;Box style={{ width: 680, height: '100%', padding: '0 40px 0 64px', justifyContent: 'center', zIndex: 1 }}&gt;&#10;        &lt;Text style={{ fontSize: 13, fontWeight: 600, color: '#2563EB', letterSpacing: 2 }}&gt;开源 · .NET 10 · 12 篇 ADR 记录每一个取舍&lt;/Text&gt;&#10;        &lt;Box style={{ height: 20 }} /&gt;&#10;        &lt;Text style={{ fontSize: 68, fontWeight: 'bold', color: '#0F172A', lineHeight: 1.1 }}&gt;RelayLink&lt;/Text&gt;&#10;        &lt;Box style={{ height: 20 }} /&gt;&#10;        &lt;Text style={{ fontSize: 26, fontWeight: 'bold', color: '#0F172A', lineHeight: 1.4 }}&gt;内网不开公网入站端口，&lt;br /&gt;也能被稳定访问。&lt;/Text&gt;&#10;        &lt;Box style={{ height: 28 }} /&gt;&#10;        &lt;Box style={{ width: 72, height: 3, background: '#2563EB' }} /&gt;&#10;        &lt;Box style={{ height: 26 }} /&gt;&#10;        &lt;Text style={{ fontSize: 34, fontWeight: 'bold', color: '#2563EB', lineHeight: 1.3 }}&gt;github.com/&lt;br /&gt;LazyWorkshopCreate/RelayLink&lt;/Text&gt;&#10;        &lt;Box style={{ height: 24 }} /&gt;&#10;        &lt;Text style={{ fontSize: 17, color: '#64748B', lineHeight: 1.6 }}&gt;文档里有 12 篇 ADR，记录了每一个取舍。&lt;br /&gt;欢迎来挑协议和安全设计上的毛病。&lt;/Text&gt;&#10;    &lt;/Box&gt;&#10;&#10;    &lt;Box style={{ width: 600, height: '100%', alignItems: 'center', justifyContent: 'center', zIndex: 1 }}&gt;&#10;        &lt;svg width={520} height={480} viewBox='0 0 520 480'&gt;&#10;            &lt;rect x='150' y='60' width='220' height='300' rx='16' fill='#FFFFFF' stroke='#0F172A' strokeWidth='2' /&gt;&#10;            &lt;rect x='180' y='94' width='120' height='10' rx='5' fill='#0F172A' /&gt;&#10;            &lt;rect x='180' y='116' width='76' height='7' rx='3' fill='#DCE3ED' /&gt;&#10;            &lt;rect x='180' y='150' width='160' height='7' rx='3' fill='#EEF2F8' /&gt;&#10;            &lt;rect x='180' y='168' width='128' height='7' rx='3' fill='#EEF2F8' /&gt;&#10;            &lt;rect x='180' y='186' width='146' height='7' rx='3' fill='#EEF2F8' /&gt;&#10;            &lt;rect x='180' y='222' width='160' height='2' fill='#DCE3ED' /&gt;&#10;            &lt;rect x='180' y='242' width='96' height='7' rx='3' fill='#2563EB' /&gt;&#10;            &lt;rect x='180' y='260' width='140' height='7' rx='3' fill='#EEF2F8' /&gt;&#10;            &lt;rect x='180' y='278' width='112' height='7' rx='3' fill='#EEF2F8' /&gt;&#10;            &lt;rect x='180' y='312' width='160' height='7' rx='3' fill='#EEF2F8' /&gt;&#10;            &lt;rect x='180' y='330' width='84' height='7' rx='3' fill='#2563EB' /&gt;&#10;&#10;            &lt;circle cx='90' cy='150' r='26' fill='#FFFFFF' stroke='#2563EB' strokeWidth='2' /&gt;&#10;            &lt;path d='M90 130 L90 170' stroke='#2563EB' strokeWidth='2' /&gt;&#10;            &lt;path d='M70 150 L110 150' stroke='#2563EB' strokeWidth='2' /&gt;&#10;            &lt;path d='M118 150 L156 152' stroke='#2563EB' strokeWidth='1.6' strokeDasharray='5 5' /&gt;&#10;&#10;            &lt;circle cx='430' cy='210' r='26' fill='#0F172A' /&gt;&#10;            &lt;rect x='414' y='196' width='32' height='7' rx='3' fill='#60A5FA' /&gt;&#10;            &lt;rect x='414' y='210' width='20' height='7' rx='3' fill='#FFFFFF' opacity='0.5' /&gt;&#10;            &lt;path d='M402 210 L364 208' stroke='#2563EB' strokeWidth='1.6' strokeDasharray='5 5' /&gt;&#10;&#10;            &lt;circle cx='90' cy='330' r='26' fill='#FFFFFF' stroke='#0F172A' strokeWidth='2' /&gt;&#10;            &lt;rect x='74' y='316' width='32' height='7' rx='3' fill='#0F172A' /&gt;&#10;            &lt;rect x='74' y='330' width='20' height='7' rx='3' fill='#DCE3ED' /&gt;&#10;            &lt;path d='M118 330 L156 320' stroke='#CBD5E1' strokeWidth='1.6' strokeDasharray='5 5' /&gt;&#10;&#10;            &lt;rect x='150' y='392' width='220' height='6' rx='3' fill='#DCE3ED' /&gt;&#10;            &lt;rect x='196' y='410' width='128' height='6' rx='3' fill='#EEF2F8' /&gt;&#10;        &lt;/svg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5905500" y="0"/>
            <a:ext cx="6286500" cy="6858000"/>
          </a:xfrm>
          <a:prstGeom prst="rect">
            <a:avLst/>
          </a:prstGeom>
          <a:gradFill>
            <a:gsLst>
              <a:gs pos="0">
                <a:srgbClr val="EEF2F8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09600" y="1104900"/>
            <a:ext cx="548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开源</a:t>
            </a: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 · .NET 10 · 12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篇</a:t>
            </a:r>
            <a:r>
              <a:rPr lang="en-US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 ADR </a:t>
            </a:r>
            <a:r>
              <a:rPr lang="zh-CN" sz="975" b="1" spc="150">
                <a:solidFill>
                  <a:srgbClr val="2563EB"/>
                </a:solidFill>
                <a:latin typeface="Microsoft YaHei"/>
                <a:ea typeface="Microsoft YaHei"/>
              </a:rPr>
              <a:t>记录每一个取舍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5486400" cy="8572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100" b="1">
                <a:solidFill>
                  <a:srgbClr val="0F172A"/>
                </a:solidFill>
                <a:latin typeface="Microsoft YaHei"/>
                <a:ea typeface="Microsoft YaHei"/>
              </a:rPr>
              <a:t>RelayLink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54864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内网不开公网入站端口，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0F172A"/>
                </a:solidFill>
                <a:latin typeface="Microsoft YaHei"/>
                <a:ea typeface="Microsoft YaHei"/>
              </a:rPr>
              <a:t>也能被稳定访问。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3600450"/>
            <a:ext cx="6858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09600" y="3876675"/>
            <a:ext cx="5486400" cy="1019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563EB"/>
                </a:solidFill>
                <a:latin typeface="Microsoft YaHei"/>
                <a:ea typeface="Microsoft YaHei"/>
              </a:rPr>
              <a:t>github.com/</a:t>
            </a:r>
            <a:endParaRPr/>
          </a:p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563EB"/>
                </a:solidFill>
                <a:latin typeface="Microsoft YaHei"/>
                <a:ea typeface="Microsoft YaHei"/>
              </a:rPr>
              <a:t>LazyWorkshopCreate/RelayLink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09600" y="5124450"/>
            <a:ext cx="5486400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文档里有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12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篇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ADR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，记录了每一个取舍。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欢迎来挑协议和安全设计上的毛病。</a:t>
            </a:r>
            <a:endParaRPr/>
          </a:p>
        </p:txBody>
      </p:sp>
      <p:pic>
        <p:nvPicPr>
          <p:cNvPr id="5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1143000"/>
            <a:ext cx="4953000" cy="4572000"/>
          </a:xfrm>
          <a:prstGeom prst="rect">
            <a:avLst/>
          </a:prstGeom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2026-09-19T18:23:06Z</dcterms:created>
  <dcterms:modified xsi:type="dcterms:W3CDTF">2026-09-19T18:23:06Z</dcterms:modified>
</cp:coreProperties>
</file>